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2" roundtripDataSignature="AMtx7miz209Mf4ciLKUgNrxP/ipxFBYb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2"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RO"/>
              <a:t>Daria</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Economia colaborativă se referă la persoanele care își oferă bunurile subutilizate altora folosind platforme digitale. Este denumită, de asemenea, și “economie de partajare” sau “economia platformei” și include multe sectoare diferite, variind de la vânzarea de artă la furnizarea de servicii de întreținere a locuințelor.</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Companiile care operează pe partajarea P2P sunt deseori dispuse să angajeze sau să permită aproape oricui să „împărtășească” bunurile lor, atâta timp cât le dețin. Deci, pentru Airbnb, atâta timp cât aveți o proprietate reală, sunteți eligibil să vă înscrieți ca gazdă. Pentru Uber, angajații trebuie să treacă printr-un proces tipic de recrutare, dar nu trebuie să treacă de aceleași dificultăți prin care trebuie să treacă șoferii de taxi tradiționali pentru a se califica la locul de muncă. </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În timp ce multe forme convenționale de profit din modelele de afaceri se bazează pe vânzarea de obiecte, în economiile colaborative trebuie dezvoltate noi surse de venit, deoarece achiziția este adesea omisă. Atunci când oamenii împart propriile resurse fizice în schimbul oricărui fel de beneficiu (adică profit), compania însăși folosește resursele contribuabililor sau angajaților săi și astfel profită (indirect) din serviciile pe care le oferă. Deci, pentru aceste companii, strategia de afaceri este de a folosi mai degrabă conținut intangibil decât lucrurile fizice.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RO"/>
              <a:t>Anghel:</a:t>
            </a:r>
            <a:endParaRPr/>
          </a:p>
          <a:p>
            <a:pPr indent="-298450" lvl="0" marL="457200" rtl="0" algn="l">
              <a:spcBef>
                <a:spcPts val="0"/>
              </a:spcBef>
              <a:spcAft>
                <a:spcPts val="0"/>
              </a:spcAft>
              <a:buSzPts val="1100"/>
              <a:buAutoNum type="arabicPeriod"/>
            </a:pPr>
            <a:r>
              <a:rPr lang="ro-RO"/>
              <a:t>Competitia neloiala apare din cauza faptului ca in momentul in care serviciile au aparut, nu exista o legislatie pentru a le limita si la inceput zdrobeau serviciile vechi</a:t>
            </a:r>
            <a:endParaRPr/>
          </a:p>
          <a:p>
            <a:pPr indent="-298450" lvl="0" marL="457200" rtl="0" algn="l">
              <a:spcBef>
                <a:spcPts val="0"/>
              </a:spcBef>
              <a:spcAft>
                <a:spcPts val="0"/>
              </a:spcAft>
              <a:buSzPts val="1100"/>
              <a:buAutoNum type="arabicPeriod"/>
            </a:pPr>
            <a:r>
              <a:rPr lang="ro-RO"/>
              <a:t>In cazul uber-ului, Serviciul de taxi continea un numar de soferi calculat la numarul de locuitori si era nevoie de acte speciale pentru a putea practica acest serviciu, insa odata cu aparitia uberului, orice persoana care doreste sa obtina un venit in plus, sau sa o faca full-time, o poate face chiar si din confortul propriei masini</a:t>
            </a:r>
            <a:endParaRPr/>
          </a:p>
          <a:p>
            <a:pPr indent="-298450" lvl="0" marL="457200" rtl="0" algn="l">
              <a:spcBef>
                <a:spcPts val="0"/>
              </a:spcBef>
              <a:spcAft>
                <a:spcPts val="0"/>
              </a:spcAft>
              <a:buSzPts val="1100"/>
              <a:buAutoNum type="arabicPeriod"/>
            </a:pPr>
            <a:r>
              <a:rPr lang="ro-RO"/>
              <a:t>Cum a prezentat si colega mea mai devreme</a:t>
            </a:r>
            <a:endParaRPr/>
          </a:p>
          <a:p>
            <a:pPr indent="-298450" lvl="0" marL="457200" rtl="0" algn="l">
              <a:spcBef>
                <a:spcPts val="0"/>
              </a:spcBef>
              <a:spcAft>
                <a:spcPts val="0"/>
              </a:spcAft>
              <a:buSzPts val="1100"/>
              <a:buAutoNum type="arabicPeriod"/>
            </a:pPr>
            <a:r>
              <a:rPr lang="ro-RO"/>
              <a:t>Chiar daca seamana cu a doua idee, aceasta se refera mai mult la partea de calitate a serviciilor, intrucat firmele tradiotionale sunt cunoscute ca oferind o calitate mai mare serviciilor, in timp ce cele ce apartin economiei colaborative ofera o calitate mai slaba. Dar de ce sunt in continuare alese? Deoarece lumea este comoda si prefera confortul personal in detrimentul calitatii serviciului.</a:t>
            </a:r>
            <a:endParaRPr/>
          </a:p>
          <a:p>
            <a:pPr indent="-298450" lvl="0" marL="457200" rtl="0" algn="l">
              <a:spcBef>
                <a:spcPts val="0"/>
              </a:spcBef>
              <a:spcAft>
                <a:spcPts val="0"/>
              </a:spcAft>
              <a:buSzPts val="1100"/>
              <a:buAutoNum type="arabicPeriod"/>
            </a:pPr>
            <a:r>
              <a:rPr lang="ro-RO"/>
              <a:t>Aici nu cred ca mai e nevoie sa exlic exact ce inseamna. Cu totii suntem de acord ca ne uitam permanent la review-uri inainte de a alege un produs</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RO"/>
              <a:t>Daria</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Oportunități</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Cazarea de pe platforme peer-to-peer poate ajuta la atragerea de noi segmente de piață și date demografice către destinații existente și noi. Ori de câte ori se schimbă oferta de produse de cazare, există potențialul de a crea și de a captura piețe noi care caută alte locuri de cazare decât hotelurile. De exemplu, casele cu bucătărie și mai multe dormitoare pot atrage familii sau alte grupuri care s-ar putea să nu-și poată permite mai multe camere de hotel sau să nu folosească serviciile hoteliere.</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Cazarea P2P influențează tipul și natura achizițiilor, precum și al serviciilor vizitatorilor. Spre exemplu, cei care preferă să gătească în locul mersului la restaurant atunci când călătoresc sunt mai predispuși să frecventeze magazinele și piețele locale. </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 Platformele peer-to-peer pot ajuta la creșterea dorinței (sau chiar și a încrederii) consumatorilor de a vizita o destinație nouă și pentru a încerca produse noi. Platformele digitale - precum Airbnb, Booking.com și HomeAway - pot ajunge pe piețe și pot ajuta la dezvoltarea unei destinații în țările care nu au recunoaștere internațională ca destinații turistice. Acest lucru poate fi deosebit de important în cazul piețelor emergente, unde vizitatorilor le poate lipsi încrederea în sistemele existente.</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Cazarea de pe platforme peer-to-peer poate reduce barierele de intrare pe piața antreprenoriatului. </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Platformele P2P colectează date și informații în timp real despre vizitatori. Platformele digitale pot vedea, la nivel agregat, ce caută călătorii, ce destinații iau în considerare, ce tipuri de cazare și activități selectează, nivelul lor de cheltuieli, dispozitivele utilizate pentru rezervări, perioadele de rezervare, sau cu cine călătoresc. Cu toate acestea, aceste informații sunt un avantaj numai dacă sunt împărtășite și folosite pentru a îmbunătăți calitatea serviciilor.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Provocări</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Cazările de pe platforme peer-to-peer sunt adesea neînregistrate și nereglementate</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Cazările de pe platforme peer-to-peer poate provoca perturbări într-o comunitate rezidențială. Cercetările din Melbourne, Australia, au arătat că persoanele care au închiriat pe termen scurt complexele de apartamente sunt de trei ori mai susceptibili de a face obiectul reclamațiilor legate de comportament decât rezidenții pe termen lung. </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Închirierea în economia peer-to-peer poate determina creșterea prețurilor locuințelor și a chiriilor. O plângere cheie în marile orașe care se confruntă deja cu lipsa locuințelor la prețuri accesibile este că închirierile pe termen scurt determină creșterea costurilor locuințelor și restricționează disponibilitatea apartamentelor de închiriat.</a:t>
            </a:r>
            <a:endParaRPr/>
          </a:p>
          <a:p>
            <a:pPr indent="0" lvl="0" marL="0" rtl="0" algn="l">
              <a:spcBef>
                <a:spcPts val="0"/>
              </a:spcBef>
              <a:spcAft>
                <a:spcPts val="0"/>
              </a:spcAft>
              <a:buNone/>
            </a:pPr>
            <a:r>
              <a:t/>
            </a:r>
            <a:endParaRPr/>
          </a:p>
          <a:p>
            <a:pPr indent="0" lvl="0" marL="0" rtl="0" algn="l">
              <a:spcBef>
                <a:spcPts val="0"/>
              </a:spcBef>
              <a:spcAft>
                <a:spcPts val="0"/>
              </a:spcAft>
              <a:buNone/>
            </a:pPr>
            <a:r>
              <a:rPr lang="ro-RO"/>
              <a:t> Cazările de pe platformele peer-to-peer au fost criticate pentru că au contribuit la suprasolicitarea turismului. Acest fenomen - adică supraaglomerarea unei destinații de către turiști - a devenit o problemă politizată în orașele dezvoltate precum Amsterdam, Veneția și Barcelona. Locuitorii din Amsterdam și Barcelona au susținut că închirierile pe termen scurt contribuie la congestia turistică.</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RO" sz="1400">
                <a:solidFill>
                  <a:schemeClr val="dk1"/>
                </a:solidFill>
              </a:rPr>
              <a:t>Airbnb este companie americană înfiin</a:t>
            </a:r>
            <a:r>
              <a:rPr lang="ro-RO" sz="1400">
                <a:solidFill>
                  <a:schemeClr val="dk1"/>
                </a:solidFill>
                <a:latin typeface="Times New Roman"/>
                <a:ea typeface="Times New Roman"/>
                <a:cs typeface="Times New Roman"/>
                <a:sym typeface="Times New Roman"/>
              </a:rPr>
              <a:t>ț</a:t>
            </a:r>
            <a:r>
              <a:rPr lang="ro-RO" sz="1400">
                <a:solidFill>
                  <a:schemeClr val="dk1"/>
                </a:solidFill>
              </a:rPr>
              <a:t>ată în 2008 care de</a:t>
            </a:r>
            <a:r>
              <a:rPr lang="ro-RO" sz="1400">
                <a:solidFill>
                  <a:schemeClr val="dk1"/>
                </a:solidFill>
                <a:latin typeface="Times New Roman"/>
                <a:ea typeface="Times New Roman"/>
                <a:cs typeface="Times New Roman"/>
                <a:sym typeface="Times New Roman"/>
              </a:rPr>
              <a:t>ț</a:t>
            </a:r>
            <a:r>
              <a:rPr lang="ro-RO" sz="1400">
                <a:solidFill>
                  <a:schemeClr val="dk1"/>
                </a:solidFill>
              </a:rPr>
              <a:t>ine o platformă online prin care se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pot închiria, oriunde în lume, camere, apartamente sau case întregi direct de la proprietar.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După ce a înregistrat rate de cre</a:t>
            </a:r>
            <a:r>
              <a:rPr lang="ro-RO" sz="1400">
                <a:solidFill>
                  <a:schemeClr val="dk1"/>
                </a:solidFill>
                <a:latin typeface="Times New Roman"/>
                <a:ea typeface="Times New Roman"/>
                <a:cs typeface="Times New Roman"/>
                <a:sym typeface="Times New Roman"/>
              </a:rPr>
              <a:t>ș</a:t>
            </a:r>
            <a:r>
              <a:rPr lang="ro-RO" sz="1400">
                <a:solidFill>
                  <a:schemeClr val="dk1"/>
                </a:solidFill>
              </a:rPr>
              <a:t>tere ridicate în ultimii cinci ani, cre</a:t>
            </a:r>
            <a:r>
              <a:rPr lang="ro-RO" sz="1400">
                <a:solidFill>
                  <a:schemeClr val="dk1"/>
                </a:solidFill>
                <a:latin typeface="Times New Roman"/>
                <a:ea typeface="Times New Roman"/>
                <a:cs typeface="Times New Roman"/>
                <a:sym typeface="Times New Roman"/>
              </a:rPr>
              <a:t>ș</a:t>
            </a:r>
            <a:r>
              <a:rPr lang="ro-RO" sz="1400">
                <a:solidFill>
                  <a:schemeClr val="dk1"/>
                </a:solidFill>
              </a:rPr>
              <a:t>terea locurilor de cazare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”Peer To Peer” pare să încetinească acum pe pie</a:t>
            </a:r>
            <a:r>
              <a:rPr lang="ro-RO" sz="1400">
                <a:solidFill>
                  <a:schemeClr val="dk1"/>
                </a:solidFill>
                <a:latin typeface="Times New Roman"/>
                <a:ea typeface="Times New Roman"/>
                <a:cs typeface="Times New Roman"/>
                <a:sym typeface="Times New Roman"/>
              </a:rPr>
              <a:t>ț</a:t>
            </a:r>
            <a:r>
              <a:rPr lang="ro-RO" sz="1400">
                <a:solidFill>
                  <a:schemeClr val="dk1"/>
                </a:solidFill>
              </a:rPr>
              <a:t>ele mature. Platformele de cazare ”Peer To Peer”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au fost ini</a:t>
            </a:r>
            <a:r>
              <a:rPr lang="ro-RO" sz="1400">
                <a:solidFill>
                  <a:schemeClr val="dk1"/>
                </a:solidFill>
                <a:latin typeface="Times New Roman"/>
                <a:ea typeface="Times New Roman"/>
                <a:cs typeface="Times New Roman"/>
                <a:sym typeface="Times New Roman"/>
              </a:rPr>
              <a:t>ț</a:t>
            </a:r>
            <a:r>
              <a:rPr lang="ro-RO" sz="1400">
                <a:solidFill>
                  <a:schemeClr val="dk1"/>
                </a:solidFill>
              </a:rPr>
              <a:t>ial cele mai populare în destina</a:t>
            </a:r>
            <a:r>
              <a:rPr lang="ro-RO" sz="1400">
                <a:solidFill>
                  <a:schemeClr val="dk1"/>
                </a:solidFill>
                <a:latin typeface="Times New Roman"/>
                <a:ea typeface="Times New Roman"/>
                <a:cs typeface="Times New Roman"/>
                <a:sym typeface="Times New Roman"/>
              </a:rPr>
              <a:t>ț</a:t>
            </a:r>
            <a:r>
              <a:rPr lang="ro-RO" sz="1400">
                <a:solidFill>
                  <a:schemeClr val="dk1"/>
                </a:solidFill>
              </a:rPr>
              <a:t>iile populare, unde accesul digital </a:t>
            </a:r>
            <a:r>
              <a:rPr lang="ro-RO" sz="1400">
                <a:solidFill>
                  <a:schemeClr val="dk1"/>
                </a:solidFill>
                <a:latin typeface="Times New Roman"/>
                <a:ea typeface="Times New Roman"/>
                <a:cs typeface="Times New Roman"/>
                <a:sym typeface="Times New Roman"/>
              </a:rPr>
              <a:t>ș</a:t>
            </a:r>
            <a:r>
              <a:rPr lang="ro-RO" sz="1400">
                <a:solidFill>
                  <a:schemeClr val="dk1"/>
                </a:solidFill>
              </a:rPr>
              <a:t>i frecven</a:t>
            </a:r>
            <a:r>
              <a:rPr lang="ro-RO" sz="1400">
                <a:solidFill>
                  <a:schemeClr val="dk1"/>
                </a:solidFill>
                <a:latin typeface="Times New Roman"/>
                <a:ea typeface="Times New Roman"/>
                <a:cs typeface="Times New Roman"/>
                <a:sym typeface="Times New Roman"/>
              </a:rPr>
              <a:t>ț</a:t>
            </a:r>
            <a:r>
              <a:rPr lang="ro-RO" sz="1400">
                <a:solidFill>
                  <a:schemeClr val="dk1"/>
                </a:solidFill>
              </a:rPr>
              <a:t>a de călătorie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sunt cele mai mari. Cu toate acestea, începând cu 2017, cazarea ”Peer To Peer” pare să se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stabilizeze atât din punct de vedere al cererii, cât </a:t>
            </a:r>
            <a:r>
              <a:rPr lang="ro-RO" sz="1400">
                <a:solidFill>
                  <a:schemeClr val="dk1"/>
                </a:solidFill>
                <a:latin typeface="Times New Roman"/>
                <a:ea typeface="Times New Roman"/>
                <a:cs typeface="Times New Roman"/>
                <a:sym typeface="Times New Roman"/>
              </a:rPr>
              <a:t>ș</a:t>
            </a:r>
            <a:r>
              <a:rPr lang="ro-RO" sz="1400">
                <a:solidFill>
                  <a:schemeClr val="dk1"/>
                </a:solidFill>
              </a:rPr>
              <a:t>i al ofertei. Un studiu din 2017 realizat de 4.000 de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consumatori adul</a:t>
            </a:r>
            <a:r>
              <a:rPr lang="ro-RO" sz="1400">
                <a:solidFill>
                  <a:schemeClr val="dk1"/>
                </a:solidFill>
                <a:latin typeface="Times New Roman"/>
                <a:ea typeface="Times New Roman"/>
                <a:cs typeface="Times New Roman"/>
                <a:sym typeface="Times New Roman"/>
              </a:rPr>
              <a:t>ț</a:t>
            </a:r>
            <a:r>
              <a:rPr lang="ro-RO" sz="1400">
                <a:solidFill>
                  <a:schemeClr val="dk1"/>
                </a:solidFill>
              </a:rPr>
              <a:t>i din SUA, Marea Britanie, francezi </a:t>
            </a:r>
            <a:r>
              <a:rPr lang="ro-RO" sz="1400">
                <a:solidFill>
                  <a:schemeClr val="dk1"/>
                </a:solidFill>
                <a:latin typeface="Times New Roman"/>
                <a:ea typeface="Times New Roman"/>
                <a:cs typeface="Times New Roman"/>
                <a:sym typeface="Times New Roman"/>
              </a:rPr>
              <a:t>ș</a:t>
            </a:r>
            <a:r>
              <a:rPr lang="ro-RO" sz="1400">
                <a:solidFill>
                  <a:schemeClr val="dk1"/>
                </a:solidFill>
              </a:rPr>
              <a:t>i germani de către compania de servicii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financiare Morgan Stanley a întrebat despre con</a:t>
            </a:r>
            <a:r>
              <a:rPr lang="ro-RO" sz="1400">
                <a:solidFill>
                  <a:schemeClr val="dk1"/>
                </a:solidFill>
                <a:latin typeface="Times New Roman"/>
                <a:ea typeface="Times New Roman"/>
                <a:cs typeface="Times New Roman"/>
                <a:sym typeface="Times New Roman"/>
              </a:rPr>
              <a:t>ș</a:t>
            </a:r>
            <a:r>
              <a:rPr lang="ro-RO" sz="1400">
                <a:solidFill>
                  <a:schemeClr val="dk1"/>
                </a:solidFill>
              </a:rPr>
              <a:t>tientizarea consumatorilor fa</a:t>
            </a:r>
            <a:r>
              <a:rPr lang="ro-RO" sz="1400">
                <a:solidFill>
                  <a:schemeClr val="dk1"/>
                </a:solidFill>
                <a:latin typeface="Times New Roman"/>
                <a:ea typeface="Times New Roman"/>
                <a:cs typeface="Times New Roman"/>
                <a:sym typeface="Times New Roman"/>
              </a:rPr>
              <a:t>ț</a:t>
            </a:r>
            <a:r>
              <a:rPr lang="ro-RO" sz="1400">
                <a:solidFill>
                  <a:schemeClr val="dk1"/>
                </a:solidFill>
              </a:rPr>
              <a:t>ă de platforma digitală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Airbnb; gradul de con</a:t>
            </a:r>
            <a:r>
              <a:rPr lang="ro-RO" sz="1400">
                <a:solidFill>
                  <a:schemeClr val="dk1"/>
                </a:solidFill>
                <a:latin typeface="Times New Roman"/>
                <a:ea typeface="Times New Roman"/>
                <a:cs typeface="Times New Roman"/>
                <a:sym typeface="Times New Roman"/>
              </a:rPr>
              <a:t>ș</a:t>
            </a:r>
            <a:r>
              <a:rPr lang="ro-RO" sz="1400">
                <a:solidFill>
                  <a:schemeClr val="dk1"/>
                </a:solidFill>
              </a:rPr>
              <a:t>tientizare a ajuns la 80% pe pie</a:t>
            </a:r>
            <a:r>
              <a:rPr lang="ro-RO" sz="1400">
                <a:solidFill>
                  <a:schemeClr val="dk1"/>
                </a:solidFill>
                <a:latin typeface="Times New Roman"/>
                <a:ea typeface="Times New Roman"/>
                <a:cs typeface="Times New Roman"/>
                <a:sym typeface="Times New Roman"/>
              </a:rPr>
              <a:t>ț</a:t>
            </a:r>
            <a:r>
              <a:rPr lang="ro-RO" sz="1400">
                <a:solidFill>
                  <a:schemeClr val="dk1"/>
                </a:solidFill>
              </a:rPr>
              <a:t>ele mature, ceea ce a dus la o cre</a:t>
            </a:r>
            <a:r>
              <a:rPr lang="ro-RO" sz="1400">
                <a:solidFill>
                  <a:schemeClr val="dk1"/>
                </a:solidFill>
                <a:latin typeface="Times New Roman"/>
                <a:ea typeface="Times New Roman"/>
                <a:cs typeface="Times New Roman"/>
                <a:sym typeface="Times New Roman"/>
              </a:rPr>
              <a:t>ș</a:t>
            </a:r>
            <a:r>
              <a:rPr lang="ro-RO" sz="1400">
                <a:solidFill>
                  <a:schemeClr val="dk1"/>
                </a:solidFill>
              </a:rPr>
              <a:t>tere limitată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 cererii. Sondajul a arătat că în 2017, 25% dintre călători au folosit platforma în ultimele 12 luni, dar 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arătat, de asemenea, că rata de cre</a:t>
            </a:r>
            <a:r>
              <a:rPr lang="ro-RO" sz="1400">
                <a:solidFill>
                  <a:schemeClr val="dk1"/>
                </a:solidFill>
                <a:latin typeface="Times New Roman"/>
                <a:ea typeface="Times New Roman"/>
                <a:cs typeface="Times New Roman"/>
                <a:sym typeface="Times New Roman"/>
              </a:rPr>
              <a:t>ș</a:t>
            </a:r>
            <a:r>
              <a:rPr lang="ro-RO" sz="1400">
                <a:solidFill>
                  <a:schemeClr val="dk1"/>
                </a:solidFill>
              </a:rPr>
              <a:t>tere a încetinit de la 7,9% în 2015 la 3,3% în 2017.</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Datele primite de la Airbnb au arătat că numărul de oaspe</a:t>
            </a:r>
            <a:r>
              <a:rPr lang="ro-RO" sz="1400">
                <a:solidFill>
                  <a:schemeClr val="dk1"/>
                </a:solidFill>
                <a:latin typeface="Times New Roman"/>
                <a:ea typeface="Times New Roman"/>
                <a:cs typeface="Times New Roman"/>
                <a:sym typeface="Times New Roman"/>
              </a:rPr>
              <a:t>ț</a:t>
            </a:r>
            <a:r>
              <a:rPr lang="ro-RO" sz="1400">
                <a:solidFill>
                  <a:schemeClr val="dk1"/>
                </a:solidFill>
              </a:rPr>
              <a:t>i în </a:t>
            </a:r>
            <a:r>
              <a:rPr lang="ro-RO" sz="1400">
                <a:solidFill>
                  <a:schemeClr val="dk1"/>
                </a:solidFill>
                <a:latin typeface="Times New Roman"/>
                <a:ea typeface="Times New Roman"/>
                <a:cs typeface="Times New Roman"/>
                <a:sym typeface="Times New Roman"/>
              </a:rPr>
              <a:t>ț</a:t>
            </a:r>
            <a:r>
              <a:rPr lang="ro-RO" sz="1400">
                <a:solidFill>
                  <a:schemeClr val="dk1"/>
                </a:solidFill>
              </a:rPr>
              <a:t>ările cu venituri mici </a:t>
            </a:r>
            <a:r>
              <a:rPr lang="ro-RO" sz="1400">
                <a:solidFill>
                  <a:schemeClr val="dk1"/>
                </a:solidFill>
                <a:latin typeface="Times New Roman"/>
                <a:ea typeface="Times New Roman"/>
                <a:cs typeface="Times New Roman"/>
                <a:sym typeface="Times New Roman"/>
              </a:rPr>
              <a:t>ș</a:t>
            </a:r>
            <a:r>
              <a:rPr lang="ro-RO" sz="1400">
                <a:solidFill>
                  <a:schemeClr val="dk1"/>
                </a:solidFill>
              </a:rPr>
              <a:t>i cu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venituri medii mici a crescut cu 1160%, de la 323.100 în 2014 la peste 4 milioane în 2017.</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Statele Unite </a:t>
            </a:r>
            <a:r>
              <a:rPr lang="ro-RO" sz="1400">
                <a:solidFill>
                  <a:schemeClr val="dk1"/>
                </a:solidFill>
                <a:latin typeface="Times New Roman"/>
                <a:ea typeface="Times New Roman"/>
                <a:cs typeface="Times New Roman"/>
                <a:sym typeface="Times New Roman"/>
              </a:rPr>
              <a:t>ș</a:t>
            </a:r>
            <a:r>
              <a:rPr lang="ro-RO" sz="1400">
                <a:solidFill>
                  <a:schemeClr val="dk1"/>
                </a:solidFill>
              </a:rPr>
              <a:t>i Europa par să fie principalele pie</a:t>
            </a:r>
            <a:r>
              <a:rPr lang="ro-RO" sz="1400">
                <a:solidFill>
                  <a:schemeClr val="dk1"/>
                </a:solidFill>
                <a:latin typeface="Times New Roman"/>
                <a:ea typeface="Times New Roman"/>
                <a:cs typeface="Times New Roman"/>
                <a:sym typeface="Times New Roman"/>
              </a:rPr>
              <a:t>ț</a:t>
            </a:r>
            <a:r>
              <a:rPr lang="ro-RO" sz="1400">
                <a:solidFill>
                  <a:schemeClr val="dk1"/>
                </a:solidFill>
              </a:rPr>
              <a:t>e în ceea ce prive</a:t>
            </a:r>
            <a:r>
              <a:rPr lang="ro-RO" sz="1400">
                <a:solidFill>
                  <a:schemeClr val="dk1"/>
                </a:solidFill>
                <a:latin typeface="Times New Roman"/>
                <a:ea typeface="Times New Roman"/>
                <a:cs typeface="Times New Roman"/>
                <a:sym typeface="Times New Roman"/>
              </a:rPr>
              <a:t>ș</a:t>
            </a:r>
            <a:r>
              <a:rPr lang="ro-RO" sz="1400">
                <a:solidFill>
                  <a:schemeClr val="dk1"/>
                </a:solidFill>
              </a:rPr>
              <a:t>te numărul de furnizori de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cazare ”Peer To Peer”.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milenari domină anumite tipuri de cazare ”Peer To Peer”. </a:t>
            </a:r>
            <a:r>
              <a:rPr lang="ro-RO" sz="1400">
                <a:solidFill>
                  <a:schemeClr val="dk1"/>
                </a:solidFill>
                <a:latin typeface="Times New Roman"/>
                <a:ea typeface="Times New Roman"/>
                <a:cs typeface="Times New Roman"/>
                <a:sym typeface="Times New Roman"/>
              </a:rPr>
              <a:t>Ș</a:t>
            </a:r>
            <a:r>
              <a:rPr lang="ro-RO" sz="1400">
                <a:solidFill>
                  <a:schemeClr val="dk1"/>
                </a:solidFill>
              </a:rPr>
              <a:t>aizeci la sută din to</a:t>
            </a:r>
            <a:r>
              <a:rPr lang="ro-RO" sz="1400">
                <a:solidFill>
                  <a:schemeClr val="dk1"/>
                </a:solidFill>
                <a:latin typeface="Times New Roman"/>
                <a:ea typeface="Times New Roman"/>
                <a:cs typeface="Times New Roman"/>
                <a:sym typeface="Times New Roman"/>
              </a:rPr>
              <a:t>ț</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care fac rezervări pe Airbnb au vârste cuprinse între 18 </a:t>
            </a:r>
            <a:r>
              <a:rPr lang="ro-RO" sz="1400">
                <a:solidFill>
                  <a:schemeClr val="dk1"/>
                </a:solidFill>
                <a:latin typeface="Times New Roman"/>
                <a:ea typeface="Times New Roman"/>
                <a:cs typeface="Times New Roman"/>
                <a:sym typeface="Times New Roman"/>
              </a:rPr>
              <a:t>ș</a:t>
            </a:r>
            <a:r>
              <a:rPr lang="ro-RO" sz="1400">
                <a:solidFill>
                  <a:schemeClr val="dk1"/>
                </a:solidFill>
              </a:rPr>
              <a:t>i 35 de ani. În China, 83% dintre cei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care fac rezervări pe Airbnb sunt cu vârste cuprinse între 20 </a:t>
            </a:r>
            <a:r>
              <a:rPr lang="ro-RO" sz="1400">
                <a:solidFill>
                  <a:schemeClr val="dk1"/>
                </a:solidFill>
                <a:latin typeface="Times New Roman"/>
                <a:ea typeface="Times New Roman"/>
                <a:cs typeface="Times New Roman"/>
                <a:sym typeface="Times New Roman"/>
              </a:rPr>
              <a:t>ș</a:t>
            </a:r>
            <a:r>
              <a:rPr lang="ro-RO" sz="1400">
                <a:solidFill>
                  <a:schemeClr val="dk1"/>
                </a:solidFill>
              </a:rPr>
              <a:t>i 38 ani.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caza</a:t>
            </a:r>
            <a:r>
              <a:rPr lang="ro-RO" sz="1400">
                <a:solidFill>
                  <a:schemeClr val="dk1"/>
                </a:solidFill>
                <a:latin typeface="Times New Roman"/>
                <a:ea typeface="Times New Roman"/>
                <a:cs typeface="Times New Roman"/>
                <a:sym typeface="Times New Roman"/>
              </a:rPr>
              <a:t>ț</a:t>
            </a:r>
            <a:r>
              <a:rPr lang="ro-RO" sz="1400">
                <a:solidFill>
                  <a:schemeClr val="dk1"/>
                </a:solidFill>
              </a:rPr>
              <a:t>i în cazare ”Peer To Peer” pot călători în grupuri mai mari </a:t>
            </a:r>
            <a:r>
              <a:rPr lang="ro-RO" sz="1400">
                <a:solidFill>
                  <a:schemeClr val="dk1"/>
                </a:solidFill>
                <a:latin typeface="Times New Roman"/>
                <a:ea typeface="Times New Roman"/>
                <a:cs typeface="Times New Roman"/>
                <a:sym typeface="Times New Roman"/>
              </a:rPr>
              <a:t>ș</a:t>
            </a:r>
            <a:r>
              <a:rPr lang="ro-RO" sz="1400">
                <a:solidFill>
                  <a:schemeClr val="dk1"/>
                </a:solidFill>
              </a:rPr>
              <a:t>i pot sta mai mult. Studiul</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firmei de servicii financiare Morgan Stanley realizat asupra consumatorilor americani </a:t>
            </a:r>
            <a:r>
              <a:rPr lang="ro-RO" sz="1400">
                <a:solidFill>
                  <a:schemeClr val="dk1"/>
                </a:solidFill>
                <a:latin typeface="Times New Roman"/>
                <a:ea typeface="Times New Roman"/>
                <a:cs typeface="Times New Roman"/>
                <a:sym typeface="Times New Roman"/>
              </a:rPr>
              <a:t>ș</a:t>
            </a:r>
            <a:r>
              <a:rPr lang="ro-RO" sz="1400">
                <a:solidFill>
                  <a:schemeClr val="dk1"/>
                </a:solidFill>
              </a:rPr>
              <a:t>i europeni 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constatat că turi</a:t>
            </a:r>
            <a:r>
              <a:rPr lang="ro-RO" sz="1400">
                <a:solidFill>
                  <a:schemeClr val="dk1"/>
                </a:solidFill>
                <a:latin typeface="Times New Roman"/>
                <a:ea typeface="Times New Roman"/>
                <a:cs typeface="Times New Roman"/>
                <a:sym typeface="Times New Roman"/>
              </a:rPr>
              <a:t>ș</a:t>
            </a:r>
            <a:r>
              <a:rPr lang="ro-RO" sz="1400">
                <a:solidFill>
                  <a:schemeClr val="dk1"/>
                </a:solidFill>
              </a:rPr>
              <a:t>tii care folosesc cazare ”Peer To Peer” rămân în medie mai multe nop</a:t>
            </a:r>
            <a:r>
              <a:rPr lang="ro-RO" sz="1400">
                <a:solidFill>
                  <a:schemeClr val="dk1"/>
                </a:solidFill>
                <a:latin typeface="Times New Roman"/>
                <a:ea typeface="Times New Roman"/>
                <a:cs typeface="Times New Roman"/>
                <a:sym typeface="Times New Roman"/>
              </a:rPr>
              <a:t>ț</a:t>
            </a:r>
            <a:r>
              <a:rPr lang="ro-RO" sz="1400">
                <a:solidFill>
                  <a:schemeClr val="dk1"/>
                </a:solidFill>
              </a:rPr>
              <a:t>i la destina</a:t>
            </a:r>
            <a:r>
              <a:rPr lang="ro-RO" sz="1400">
                <a:solidFill>
                  <a:schemeClr val="dk1"/>
                </a:solidFill>
                <a:latin typeface="Times New Roman"/>
                <a:ea typeface="Times New Roman"/>
                <a:cs typeface="Times New Roman"/>
                <a:sym typeface="Times New Roman"/>
              </a:rPr>
              <a:t>ț</a:t>
            </a:r>
            <a:r>
              <a:rPr lang="ro-RO" sz="1400">
                <a:solidFill>
                  <a:schemeClr val="dk1"/>
                </a:solidFill>
              </a:rPr>
              <a:t>ie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decât cei din cazarea comercială. Cercetările efectuate în Norvegia au descoperit însă contrariul. Ar fi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necesare mai multe cercetări pentru a stabili factorii determinan</a:t>
            </a:r>
            <a:r>
              <a:rPr lang="ro-RO" sz="1400">
                <a:solidFill>
                  <a:schemeClr val="dk1"/>
                </a:solidFill>
                <a:latin typeface="Times New Roman"/>
                <a:ea typeface="Times New Roman"/>
                <a:cs typeface="Times New Roman"/>
                <a:sym typeface="Times New Roman"/>
              </a:rPr>
              <a:t>ț</a:t>
            </a:r>
            <a:r>
              <a:rPr lang="ro-RO" sz="1400">
                <a:solidFill>
                  <a:schemeClr val="dk1"/>
                </a:solidFill>
              </a:rPr>
              <a:t>i ai acestor modele </a:t>
            </a:r>
            <a:r>
              <a:rPr lang="ro-RO" sz="1400">
                <a:solidFill>
                  <a:schemeClr val="dk1"/>
                </a:solidFill>
                <a:latin typeface="Times New Roman"/>
                <a:ea typeface="Times New Roman"/>
                <a:cs typeface="Times New Roman"/>
                <a:sym typeface="Times New Roman"/>
              </a:rPr>
              <a:t>ș</a:t>
            </a:r>
            <a:r>
              <a:rPr lang="ro-RO" sz="1400">
                <a:solidFill>
                  <a:schemeClr val="dk1"/>
                </a:solidFill>
              </a:rPr>
              <a:t>i dacă </a:t>
            </a:r>
            <a:r>
              <a:rPr lang="ro-RO" sz="1400">
                <a:solidFill>
                  <a:schemeClr val="dk1"/>
                </a:solidFill>
                <a:latin typeface="Times New Roman"/>
                <a:ea typeface="Times New Roman"/>
                <a:cs typeface="Times New Roman"/>
                <a:sym typeface="Times New Roman"/>
              </a:rPr>
              <a:t>ș</a:t>
            </a:r>
            <a:r>
              <a:rPr lang="ro-RO" sz="1400">
                <a:solidFill>
                  <a:schemeClr val="dk1"/>
                </a:solidFill>
              </a:rPr>
              <a:t>ederile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mai lungi sau cele mai scurte sunt confirmate în studii independente. 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”Peer To Peer” par să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aibă studii superioare </a:t>
            </a:r>
            <a:r>
              <a:rPr lang="ro-RO" sz="1400">
                <a:solidFill>
                  <a:schemeClr val="dk1"/>
                </a:solidFill>
                <a:latin typeface="Times New Roman"/>
                <a:ea typeface="Times New Roman"/>
                <a:cs typeface="Times New Roman"/>
                <a:sym typeface="Times New Roman"/>
              </a:rPr>
              <a:t>ș</a:t>
            </a:r>
            <a:r>
              <a:rPr lang="ro-RO" sz="1400">
                <a:solidFill>
                  <a:schemeClr val="dk1"/>
                </a:solidFill>
              </a:rPr>
              <a:t>i tind să călătorească mai mult decât media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Airbnb încasează un comision de 3% de la furnizori </a:t>
            </a:r>
            <a:r>
              <a:rPr lang="ro-RO" sz="1400">
                <a:solidFill>
                  <a:schemeClr val="dk1"/>
                </a:solidFill>
                <a:latin typeface="Times New Roman"/>
                <a:ea typeface="Times New Roman"/>
                <a:cs typeface="Times New Roman"/>
                <a:sym typeface="Times New Roman"/>
              </a:rPr>
              <a:t>ș</a:t>
            </a:r>
            <a:r>
              <a:rPr lang="ro-RO" sz="1400">
                <a:solidFill>
                  <a:schemeClr val="dk1"/>
                </a:solidFill>
              </a:rPr>
              <a:t>i o taxă de servicii de 6-12% de la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 Oaspetele trebuie să plătească întreaga sumă (taxa de închiriere </a:t>
            </a:r>
            <a:r>
              <a:rPr lang="ro-RO" sz="1400">
                <a:solidFill>
                  <a:schemeClr val="dk1"/>
                </a:solidFill>
                <a:latin typeface="Times New Roman"/>
                <a:ea typeface="Times New Roman"/>
                <a:cs typeface="Times New Roman"/>
                <a:sym typeface="Times New Roman"/>
              </a:rPr>
              <a:t>ș</a:t>
            </a:r>
            <a:r>
              <a:rPr lang="ro-RO" sz="1400">
                <a:solidFill>
                  <a:schemeClr val="dk1"/>
                </a:solidFill>
              </a:rPr>
              <a:t>i taxa de tranzac</a:t>
            </a:r>
            <a:r>
              <a:rPr lang="ro-RO" sz="1400">
                <a:solidFill>
                  <a:schemeClr val="dk1"/>
                </a:solidFill>
                <a:latin typeface="Times New Roman"/>
                <a:ea typeface="Times New Roman"/>
                <a:cs typeface="Times New Roman"/>
                <a:sym typeface="Times New Roman"/>
              </a:rPr>
              <a:t>ț</a:t>
            </a:r>
            <a:r>
              <a:rPr lang="ro-RO" sz="1400">
                <a:solidFill>
                  <a:schemeClr val="dk1"/>
                </a:solidFill>
              </a:rPr>
              <a:t>ie) în</a:t>
            </a:r>
            <a:endParaRPr sz="1400">
              <a:solidFill>
                <a:schemeClr val="dk1"/>
              </a:solidFill>
            </a:endParaRPr>
          </a:p>
          <a:p>
            <a:pPr indent="0" lvl="0" marL="0" rtl="0" algn="l">
              <a:spcBef>
                <a:spcPts val="0"/>
              </a:spcBef>
              <a:spcAft>
                <a:spcPts val="0"/>
              </a:spcAft>
              <a:buNone/>
            </a:pPr>
            <a:r>
              <a:rPr lang="ro-RO" sz="1400">
                <a:solidFill>
                  <a:schemeClr val="dk1"/>
                </a:solidFill>
              </a:rPr>
              <a:t>avans; platforma plăte</a:t>
            </a:r>
            <a:r>
              <a:rPr lang="ro-RO" sz="1400">
                <a:solidFill>
                  <a:schemeClr val="dk1"/>
                </a:solidFill>
                <a:latin typeface="Times New Roman"/>
                <a:ea typeface="Times New Roman"/>
                <a:cs typeface="Times New Roman"/>
                <a:sym typeface="Times New Roman"/>
              </a:rPr>
              <a:t>ș</a:t>
            </a:r>
            <a:r>
              <a:rPr lang="ro-RO" sz="1400">
                <a:solidFill>
                  <a:schemeClr val="dk1"/>
                </a:solidFill>
              </a:rPr>
              <a:t>te apoi furnizorul după sosirea oaspe</a:t>
            </a:r>
            <a:r>
              <a:rPr lang="ro-RO" sz="1400">
                <a:solidFill>
                  <a:schemeClr val="dk1"/>
                </a:solidFill>
                <a:latin typeface="Times New Roman"/>
                <a:ea typeface="Times New Roman"/>
                <a:cs typeface="Times New Roman"/>
                <a:sym typeface="Times New Roman"/>
              </a:rPr>
              <a:t>ț</a:t>
            </a:r>
            <a:r>
              <a:rPr lang="ro-RO" sz="1400">
                <a:solidFill>
                  <a:schemeClr val="dk1"/>
                </a:solidFill>
              </a:rPr>
              <a:t>ilor.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Statele Unite </a:t>
            </a:r>
            <a:r>
              <a:rPr lang="ro-RO" sz="1400">
                <a:solidFill>
                  <a:schemeClr val="dk1"/>
                </a:solidFill>
                <a:latin typeface="Times New Roman"/>
                <a:ea typeface="Times New Roman"/>
                <a:cs typeface="Times New Roman"/>
                <a:sym typeface="Times New Roman"/>
              </a:rPr>
              <a:t>ș</a:t>
            </a:r>
            <a:r>
              <a:rPr lang="ro-RO" sz="1400">
                <a:solidFill>
                  <a:schemeClr val="dk1"/>
                </a:solidFill>
              </a:rPr>
              <a:t>i Europa par să fie principalele pie</a:t>
            </a:r>
            <a:r>
              <a:rPr lang="ro-RO" sz="1400">
                <a:solidFill>
                  <a:schemeClr val="dk1"/>
                </a:solidFill>
                <a:latin typeface="Times New Roman"/>
                <a:ea typeface="Times New Roman"/>
                <a:cs typeface="Times New Roman"/>
                <a:sym typeface="Times New Roman"/>
              </a:rPr>
              <a:t>ț</a:t>
            </a:r>
            <a:r>
              <a:rPr lang="ro-RO" sz="1400">
                <a:solidFill>
                  <a:schemeClr val="dk1"/>
                </a:solidFill>
              </a:rPr>
              <a:t>e în ceea ce prive</a:t>
            </a:r>
            <a:r>
              <a:rPr lang="ro-RO" sz="1400">
                <a:solidFill>
                  <a:schemeClr val="dk1"/>
                </a:solidFill>
                <a:latin typeface="Times New Roman"/>
                <a:ea typeface="Times New Roman"/>
                <a:cs typeface="Times New Roman"/>
                <a:sym typeface="Times New Roman"/>
              </a:rPr>
              <a:t>ș</a:t>
            </a:r>
            <a:r>
              <a:rPr lang="ro-RO" sz="1400">
                <a:solidFill>
                  <a:schemeClr val="dk1"/>
                </a:solidFill>
              </a:rPr>
              <a:t>te numărul de furnizori de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cazare ”Peer To Peer”.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milenari domină anumite tipuri de cazare ”Peer To Peer”. </a:t>
            </a:r>
            <a:r>
              <a:rPr lang="ro-RO" sz="1400">
                <a:solidFill>
                  <a:schemeClr val="dk1"/>
                </a:solidFill>
                <a:latin typeface="Times New Roman"/>
                <a:ea typeface="Times New Roman"/>
                <a:cs typeface="Times New Roman"/>
                <a:sym typeface="Times New Roman"/>
              </a:rPr>
              <a:t>Ș</a:t>
            </a:r>
            <a:r>
              <a:rPr lang="ro-RO" sz="1400">
                <a:solidFill>
                  <a:schemeClr val="dk1"/>
                </a:solidFill>
              </a:rPr>
              <a:t>aizeci la sută din to</a:t>
            </a:r>
            <a:r>
              <a:rPr lang="ro-RO" sz="1400">
                <a:solidFill>
                  <a:schemeClr val="dk1"/>
                </a:solidFill>
                <a:latin typeface="Times New Roman"/>
                <a:ea typeface="Times New Roman"/>
                <a:cs typeface="Times New Roman"/>
                <a:sym typeface="Times New Roman"/>
              </a:rPr>
              <a:t>ț</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care fac rezervări pe Airbnb au vârste cuprinse între 18 </a:t>
            </a:r>
            <a:r>
              <a:rPr lang="ro-RO" sz="1400">
                <a:solidFill>
                  <a:schemeClr val="dk1"/>
                </a:solidFill>
                <a:latin typeface="Times New Roman"/>
                <a:ea typeface="Times New Roman"/>
                <a:cs typeface="Times New Roman"/>
                <a:sym typeface="Times New Roman"/>
              </a:rPr>
              <a:t>ș</a:t>
            </a:r>
            <a:r>
              <a:rPr lang="ro-RO" sz="1400">
                <a:solidFill>
                  <a:schemeClr val="dk1"/>
                </a:solidFill>
              </a:rPr>
              <a:t>i 35 de ani. În China, 83% dintre cei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care fac rezervări pe Airbnb sunt cu vârste cuprinse între 20 </a:t>
            </a:r>
            <a:r>
              <a:rPr lang="ro-RO" sz="1400">
                <a:solidFill>
                  <a:schemeClr val="dk1"/>
                </a:solidFill>
                <a:latin typeface="Times New Roman"/>
                <a:ea typeface="Times New Roman"/>
                <a:cs typeface="Times New Roman"/>
                <a:sym typeface="Times New Roman"/>
              </a:rPr>
              <a:t>ș</a:t>
            </a:r>
            <a:r>
              <a:rPr lang="ro-RO" sz="1400">
                <a:solidFill>
                  <a:schemeClr val="dk1"/>
                </a:solidFill>
              </a:rPr>
              <a:t>i 38 ani.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caza</a:t>
            </a:r>
            <a:r>
              <a:rPr lang="ro-RO" sz="1400">
                <a:solidFill>
                  <a:schemeClr val="dk1"/>
                </a:solidFill>
                <a:latin typeface="Times New Roman"/>
                <a:ea typeface="Times New Roman"/>
                <a:cs typeface="Times New Roman"/>
                <a:sym typeface="Times New Roman"/>
              </a:rPr>
              <a:t>ț</a:t>
            </a:r>
            <a:r>
              <a:rPr lang="ro-RO" sz="1400">
                <a:solidFill>
                  <a:schemeClr val="dk1"/>
                </a:solidFill>
              </a:rPr>
              <a:t>i în cazare ”Peer To Peer” pot călători în grupuri mai mari </a:t>
            </a:r>
            <a:r>
              <a:rPr lang="ro-RO" sz="1400">
                <a:solidFill>
                  <a:schemeClr val="dk1"/>
                </a:solidFill>
                <a:latin typeface="Times New Roman"/>
                <a:ea typeface="Times New Roman"/>
                <a:cs typeface="Times New Roman"/>
                <a:sym typeface="Times New Roman"/>
              </a:rPr>
              <a:t>ș</a:t>
            </a:r>
            <a:r>
              <a:rPr lang="ro-RO" sz="1400">
                <a:solidFill>
                  <a:schemeClr val="dk1"/>
                </a:solidFill>
              </a:rPr>
              <a:t>i pot sta mai mult. Studiul</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firmei de servicii financiare Morgan Stanley realizat asupra consumatorilor americani </a:t>
            </a:r>
            <a:r>
              <a:rPr lang="ro-RO" sz="1400">
                <a:solidFill>
                  <a:schemeClr val="dk1"/>
                </a:solidFill>
                <a:latin typeface="Times New Roman"/>
                <a:ea typeface="Times New Roman"/>
                <a:cs typeface="Times New Roman"/>
                <a:sym typeface="Times New Roman"/>
              </a:rPr>
              <a:t>ș</a:t>
            </a:r>
            <a:r>
              <a:rPr lang="ro-RO" sz="1400">
                <a:solidFill>
                  <a:schemeClr val="dk1"/>
                </a:solidFill>
              </a:rPr>
              <a:t>i europeni 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constatat că turi</a:t>
            </a:r>
            <a:r>
              <a:rPr lang="ro-RO" sz="1400">
                <a:solidFill>
                  <a:schemeClr val="dk1"/>
                </a:solidFill>
                <a:latin typeface="Times New Roman"/>
                <a:ea typeface="Times New Roman"/>
                <a:cs typeface="Times New Roman"/>
                <a:sym typeface="Times New Roman"/>
              </a:rPr>
              <a:t>ș</a:t>
            </a:r>
            <a:r>
              <a:rPr lang="ro-RO" sz="1400">
                <a:solidFill>
                  <a:schemeClr val="dk1"/>
                </a:solidFill>
              </a:rPr>
              <a:t>tii care folosesc cazare ”Peer To Peer” rămân în medie mai multe nop</a:t>
            </a:r>
            <a:r>
              <a:rPr lang="ro-RO" sz="1400">
                <a:solidFill>
                  <a:schemeClr val="dk1"/>
                </a:solidFill>
                <a:latin typeface="Times New Roman"/>
                <a:ea typeface="Times New Roman"/>
                <a:cs typeface="Times New Roman"/>
                <a:sym typeface="Times New Roman"/>
              </a:rPr>
              <a:t>ț</a:t>
            </a:r>
            <a:r>
              <a:rPr lang="ro-RO" sz="1400">
                <a:solidFill>
                  <a:schemeClr val="dk1"/>
                </a:solidFill>
              </a:rPr>
              <a:t>i la destina</a:t>
            </a:r>
            <a:r>
              <a:rPr lang="ro-RO" sz="1400">
                <a:solidFill>
                  <a:schemeClr val="dk1"/>
                </a:solidFill>
                <a:latin typeface="Times New Roman"/>
                <a:ea typeface="Times New Roman"/>
                <a:cs typeface="Times New Roman"/>
                <a:sym typeface="Times New Roman"/>
              </a:rPr>
              <a:t>ț</a:t>
            </a:r>
            <a:r>
              <a:rPr lang="ro-RO" sz="1400">
                <a:solidFill>
                  <a:schemeClr val="dk1"/>
                </a:solidFill>
              </a:rPr>
              <a:t>ie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decât cei din cazarea comercială. Cercetările efectuate în Norvegia au descoperit însă contrariul. Ar fi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necesare mai multe cercetări pentru a stabili factorii determinan</a:t>
            </a:r>
            <a:r>
              <a:rPr lang="ro-RO" sz="1400">
                <a:solidFill>
                  <a:schemeClr val="dk1"/>
                </a:solidFill>
                <a:latin typeface="Times New Roman"/>
                <a:ea typeface="Times New Roman"/>
                <a:cs typeface="Times New Roman"/>
                <a:sym typeface="Times New Roman"/>
              </a:rPr>
              <a:t>ț</a:t>
            </a:r>
            <a:r>
              <a:rPr lang="ro-RO" sz="1400">
                <a:solidFill>
                  <a:schemeClr val="dk1"/>
                </a:solidFill>
              </a:rPr>
              <a:t>i ai acestor modele </a:t>
            </a:r>
            <a:r>
              <a:rPr lang="ro-RO" sz="1400">
                <a:solidFill>
                  <a:schemeClr val="dk1"/>
                </a:solidFill>
                <a:latin typeface="Times New Roman"/>
                <a:ea typeface="Times New Roman"/>
                <a:cs typeface="Times New Roman"/>
                <a:sym typeface="Times New Roman"/>
              </a:rPr>
              <a:t>ș</a:t>
            </a:r>
            <a:r>
              <a:rPr lang="ro-RO" sz="1400">
                <a:solidFill>
                  <a:schemeClr val="dk1"/>
                </a:solidFill>
              </a:rPr>
              <a:t>i dacă </a:t>
            </a:r>
            <a:r>
              <a:rPr lang="ro-RO" sz="1400">
                <a:solidFill>
                  <a:schemeClr val="dk1"/>
                </a:solidFill>
                <a:latin typeface="Times New Roman"/>
                <a:ea typeface="Times New Roman"/>
                <a:cs typeface="Times New Roman"/>
                <a:sym typeface="Times New Roman"/>
              </a:rPr>
              <a:t>ș</a:t>
            </a:r>
            <a:r>
              <a:rPr lang="ro-RO" sz="1400">
                <a:solidFill>
                  <a:schemeClr val="dk1"/>
                </a:solidFill>
              </a:rPr>
              <a:t>ederile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mai lungi sau cele mai scurte sunt confirmate în studii independente. Oaspe</a:t>
            </a:r>
            <a:r>
              <a:rPr lang="ro-RO" sz="1400">
                <a:solidFill>
                  <a:schemeClr val="dk1"/>
                </a:solidFill>
                <a:latin typeface="Times New Roman"/>
                <a:ea typeface="Times New Roman"/>
                <a:cs typeface="Times New Roman"/>
                <a:sym typeface="Times New Roman"/>
              </a:rPr>
              <a:t>ț</a:t>
            </a:r>
            <a:r>
              <a:rPr lang="ro-RO" sz="1400">
                <a:solidFill>
                  <a:schemeClr val="dk1"/>
                </a:solidFill>
              </a:rPr>
              <a:t>ii ”Peer To Peer” par să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aibă studii superioare </a:t>
            </a:r>
            <a:r>
              <a:rPr lang="ro-RO" sz="1400">
                <a:solidFill>
                  <a:schemeClr val="dk1"/>
                </a:solidFill>
                <a:latin typeface="Times New Roman"/>
                <a:ea typeface="Times New Roman"/>
                <a:cs typeface="Times New Roman"/>
                <a:sym typeface="Times New Roman"/>
              </a:rPr>
              <a:t>ș</a:t>
            </a:r>
            <a:r>
              <a:rPr lang="ro-RO" sz="1400">
                <a:solidFill>
                  <a:schemeClr val="dk1"/>
                </a:solidFill>
              </a:rPr>
              <a:t>i tind să călătorească mai mult decât media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Airbnb încasează un comision de 3% de la furnizori </a:t>
            </a:r>
            <a:r>
              <a:rPr lang="ro-RO" sz="1400">
                <a:solidFill>
                  <a:schemeClr val="dk1"/>
                </a:solidFill>
                <a:latin typeface="Times New Roman"/>
                <a:ea typeface="Times New Roman"/>
                <a:cs typeface="Times New Roman"/>
                <a:sym typeface="Times New Roman"/>
              </a:rPr>
              <a:t>ș</a:t>
            </a:r>
            <a:r>
              <a:rPr lang="ro-RO" sz="1400">
                <a:solidFill>
                  <a:schemeClr val="dk1"/>
                </a:solidFill>
              </a:rPr>
              <a:t>i o taxă de servicii de 6-12% de la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oaspe</a:t>
            </a:r>
            <a:r>
              <a:rPr lang="ro-RO" sz="1400">
                <a:solidFill>
                  <a:schemeClr val="dk1"/>
                </a:solidFill>
                <a:latin typeface="Times New Roman"/>
                <a:ea typeface="Times New Roman"/>
                <a:cs typeface="Times New Roman"/>
                <a:sym typeface="Times New Roman"/>
              </a:rPr>
              <a:t>ț</a:t>
            </a:r>
            <a:r>
              <a:rPr lang="ro-RO" sz="1400">
                <a:solidFill>
                  <a:schemeClr val="dk1"/>
                </a:solidFill>
              </a:rPr>
              <a:t>i. Oaspetele trebuie să plătească întreaga sumă (taxa de închiriere </a:t>
            </a:r>
            <a:r>
              <a:rPr lang="ro-RO" sz="1400">
                <a:solidFill>
                  <a:schemeClr val="dk1"/>
                </a:solidFill>
                <a:latin typeface="Times New Roman"/>
                <a:ea typeface="Times New Roman"/>
                <a:cs typeface="Times New Roman"/>
                <a:sym typeface="Times New Roman"/>
              </a:rPr>
              <a:t>ș</a:t>
            </a:r>
            <a:r>
              <a:rPr lang="ro-RO" sz="1400">
                <a:solidFill>
                  <a:schemeClr val="dk1"/>
                </a:solidFill>
              </a:rPr>
              <a:t>i taxa de tranzac</a:t>
            </a:r>
            <a:r>
              <a:rPr lang="ro-RO" sz="1400">
                <a:solidFill>
                  <a:schemeClr val="dk1"/>
                </a:solidFill>
                <a:latin typeface="Times New Roman"/>
                <a:ea typeface="Times New Roman"/>
                <a:cs typeface="Times New Roman"/>
                <a:sym typeface="Times New Roman"/>
              </a:rPr>
              <a:t>ț</a:t>
            </a:r>
            <a:r>
              <a:rPr lang="ro-RO" sz="1400">
                <a:solidFill>
                  <a:schemeClr val="dk1"/>
                </a:solidFill>
              </a:rPr>
              <a:t>ie) în</a:t>
            </a:r>
            <a:endParaRPr sz="1400">
              <a:solidFill>
                <a:schemeClr val="dk1"/>
              </a:solidFill>
            </a:endParaRPr>
          </a:p>
          <a:p>
            <a:pPr indent="0" lvl="0" marL="0" rtl="0" algn="l">
              <a:spcBef>
                <a:spcPts val="0"/>
              </a:spcBef>
              <a:spcAft>
                <a:spcPts val="0"/>
              </a:spcAft>
              <a:buNone/>
            </a:pPr>
            <a:r>
              <a:rPr lang="ro-RO" sz="1400">
                <a:solidFill>
                  <a:schemeClr val="dk1"/>
                </a:solidFill>
              </a:rPr>
              <a:t>avans; platforma plăte</a:t>
            </a:r>
            <a:r>
              <a:rPr lang="ro-RO" sz="1400">
                <a:solidFill>
                  <a:schemeClr val="dk1"/>
                </a:solidFill>
                <a:latin typeface="Times New Roman"/>
                <a:ea typeface="Times New Roman"/>
                <a:cs typeface="Times New Roman"/>
                <a:sym typeface="Times New Roman"/>
              </a:rPr>
              <a:t>ș</a:t>
            </a:r>
            <a:r>
              <a:rPr lang="ro-RO" sz="1400">
                <a:solidFill>
                  <a:schemeClr val="dk1"/>
                </a:solidFill>
              </a:rPr>
              <a:t>te apoi furnizorul după sosirea oaspe</a:t>
            </a:r>
            <a:r>
              <a:rPr lang="ro-RO" sz="1400">
                <a:solidFill>
                  <a:schemeClr val="dk1"/>
                </a:solidFill>
                <a:latin typeface="Times New Roman"/>
                <a:ea typeface="Times New Roman"/>
                <a:cs typeface="Times New Roman"/>
                <a:sym typeface="Times New Roman"/>
              </a:rPr>
              <a:t>ț</a:t>
            </a:r>
            <a:r>
              <a:rPr lang="ro-RO" sz="1400">
                <a:solidFill>
                  <a:schemeClr val="dk1"/>
                </a:solidFill>
              </a:rPr>
              <a:t>ilor.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Uber este o bine cunoscută aplica</a:t>
            </a:r>
            <a:r>
              <a:rPr lang="ro-RO" sz="1400">
                <a:solidFill>
                  <a:schemeClr val="dk1"/>
                </a:solidFill>
                <a:latin typeface="Times New Roman"/>
                <a:ea typeface="Times New Roman"/>
                <a:cs typeface="Times New Roman"/>
                <a:sym typeface="Times New Roman"/>
              </a:rPr>
              <a:t>ț</a:t>
            </a:r>
            <a:r>
              <a:rPr lang="ro-RO" sz="1400">
                <a:solidFill>
                  <a:schemeClr val="dk1"/>
                </a:solidFill>
              </a:rPr>
              <a:t>ie care permite consumatorilor să comande o ma</a:t>
            </a:r>
            <a:r>
              <a:rPr lang="ro-RO" sz="1400">
                <a:solidFill>
                  <a:schemeClr val="dk1"/>
                </a:solidFill>
                <a:latin typeface="Times New Roman"/>
                <a:ea typeface="Times New Roman"/>
                <a:cs typeface="Times New Roman"/>
                <a:sym typeface="Times New Roman"/>
              </a:rPr>
              <a:t>ș</a:t>
            </a:r>
            <a:r>
              <a:rPr lang="ro-RO" sz="1400">
                <a:solidFill>
                  <a:schemeClr val="dk1"/>
                </a:solidFill>
              </a:rPr>
              <a:t>ină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privată sau comună prin apăsarea a câteva butoane ale unei aplica</a:t>
            </a:r>
            <a:r>
              <a:rPr lang="ro-RO" sz="1400">
                <a:solidFill>
                  <a:schemeClr val="dk1"/>
                </a:solidFill>
                <a:latin typeface="Times New Roman"/>
                <a:ea typeface="Times New Roman"/>
                <a:cs typeface="Times New Roman"/>
                <a:sym typeface="Times New Roman"/>
              </a:rPr>
              <a:t>ț</a:t>
            </a:r>
            <a:r>
              <a:rPr lang="ro-RO" sz="1400">
                <a:solidFill>
                  <a:schemeClr val="dk1"/>
                </a:solidFill>
              </a:rPr>
              <a:t>ii, respectiv cu plată preluată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automat din conturile utilizatorilor. Pe lângă faptul că este mai convenabil decât transportul unui taxi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tradi</a:t>
            </a:r>
            <a:r>
              <a:rPr lang="ro-RO" sz="1400">
                <a:solidFill>
                  <a:schemeClr val="dk1"/>
                </a:solidFill>
                <a:latin typeface="Times New Roman"/>
                <a:ea typeface="Times New Roman"/>
                <a:cs typeface="Times New Roman"/>
                <a:sym typeface="Times New Roman"/>
              </a:rPr>
              <a:t>ț</a:t>
            </a:r>
            <a:r>
              <a:rPr lang="ro-RO" sz="1400">
                <a:solidFill>
                  <a:schemeClr val="dk1"/>
                </a:solidFill>
              </a:rPr>
              <a:t>ional, acesta oferă </a:t>
            </a:r>
            <a:r>
              <a:rPr lang="ro-RO" sz="1400">
                <a:solidFill>
                  <a:schemeClr val="dk1"/>
                </a:solidFill>
                <a:latin typeface="Times New Roman"/>
                <a:ea typeface="Times New Roman"/>
                <a:cs typeface="Times New Roman"/>
                <a:sym typeface="Times New Roman"/>
              </a:rPr>
              <a:t>ș</a:t>
            </a:r>
            <a:r>
              <a:rPr lang="ro-RO" sz="1400">
                <a:solidFill>
                  <a:schemeClr val="dk1"/>
                </a:solidFill>
              </a:rPr>
              <a:t>i servicii la un pre</a:t>
            </a:r>
            <a:r>
              <a:rPr lang="ro-RO" sz="1400">
                <a:solidFill>
                  <a:schemeClr val="dk1"/>
                </a:solidFill>
                <a:latin typeface="Times New Roman"/>
                <a:ea typeface="Times New Roman"/>
                <a:cs typeface="Times New Roman"/>
                <a:sym typeface="Times New Roman"/>
              </a:rPr>
              <a:t>ț </a:t>
            </a:r>
            <a:r>
              <a:rPr lang="ro-RO" sz="1400">
                <a:solidFill>
                  <a:schemeClr val="dk1"/>
                </a:solidFill>
              </a:rPr>
              <a:t>considerabil mai mic.</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Înfiin</a:t>
            </a:r>
            <a:r>
              <a:rPr lang="ro-RO" sz="1400">
                <a:solidFill>
                  <a:schemeClr val="dk1"/>
                </a:solidFill>
                <a:latin typeface="Times New Roman"/>
                <a:ea typeface="Times New Roman"/>
                <a:cs typeface="Times New Roman"/>
                <a:sym typeface="Times New Roman"/>
              </a:rPr>
              <a:t>ț</a:t>
            </a:r>
            <a:r>
              <a:rPr lang="ro-RO" sz="1400">
                <a:solidFill>
                  <a:schemeClr val="dk1"/>
                </a:solidFill>
              </a:rPr>
              <a:t>ată în 2009 de directorul executiv Travis Kalanick (demisionat, de</a:t>
            </a:r>
            <a:r>
              <a:rPr lang="ro-RO" sz="1400">
                <a:solidFill>
                  <a:schemeClr val="dk1"/>
                </a:solidFill>
                <a:latin typeface="Times New Roman"/>
                <a:ea typeface="Times New Roman"/>
                <a:cs typeface="Times New Roman"/>
                <a:sym typeface="Times New Roman"/>
              </a:rPr>
              <a:t>ș</a:t>
            </a:r>
            <a:r>
              <a:rPr lang="ro-RO" sz="1400">
                <a:solidFill>
                  <a:schemeClr val="dk1"/>
                </a:solidFill>
              </a:rPr>
              <a:t>i încă în func</a:t>
            </a:r>
            <a:r>
              <a:rPr lang="ro-RO" sz="1400">
                <a:solidFill>
                  <a:schemeClr val="dk1"/>
                </a:solidFill>
                <a:latin typeface="Times New Roman"/>
                <a:ea typeface="Times New Roman"/>
                <a:cs typeface="Times New Roman"/>
                <a:sym typeface="Times New Roman"/>
              </a:rPr>
              <a:t>ț</a:t>
            </a:r>
            <a:r>
              <a:rPr lang="ro-RO" sz="1400">
                <a:solidFill>
                  <a:schemeClr val="dk1"/>
                </a:solidFill>
              </a:rPr>
              <a:t>ie) </a:t>
            </a:r>
            <a:r>
              <a:rPr lang="ro-RO" sz="1400">
                <a:solidFill>
                  <a:schemeClr val="dk1"/>
                </a:solidFill>
                <a:latin typeface="Times New Roman"/>
                <a:ea typeface="Times New Roman"/>
                <a:cs typeface="Times New Roman"/>
                <a:sym typeface="Times New Roman"/>
              </a:rPr>
              <a:t>ș</a:t>
            </a:r>
            <a:r>
              <a:rPr lang="ro-RO" sz="1400">
                <a:solidFill>
                  <a:schemeClr val="dk1"/>
                </a:solidFill>
              </a:rPr>
              <a:t>i de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Garrett Camp, </a:t>
            </a:r>
            <a:r>
              <a:rPr lang="ro-RO" sz="1400">
                <a:solidFill>
                  <a:schemeClr val="dk1"/>
                </a:solidFill>
                <a:latin typeface="Times New Roman"/>
                <a:ea typeface="Times New Roman"/>
                <a:cs typeface="Times New Roman"/>
                <a:sym typeface="Times New Roman"/>
              </a:rPr>
              <a:t>ș</a:t>
            </a:r>
            <a:r>
              <a:rPr lang="ro-RO" sz="1400">
                <a:solidFill>
                  <a:schemeClr val="dk1"/>
                </a:solidFill>
              </a:rPr>
              <a:t>i lansat în anul următor, Uber a devenit rapid o op</a:t>
            </a:r>
            <a:r>
              <a:rPr lang="ro-RO" sz="1400">
                <a:solidFill>
                  <a:schemeClr val="dk1"/>
                </a:solidFill>
                <a:latin typeface="Times New Roman"/>
                <a:ea typeface="Times New Roman"/>
                <a:cs typeface="Times New Roman"/>
                <a:sym typeface="Times New Roman"/>
              </a:rPr>
              <a:t>ț</a:t>
            </a:r>
            <a:r>
              <a:rPr lang="ro-RO" sz="1400">
                <a:solidFill>
                  <a:schemeClr val="dk1"/>
                </a:solidFill>
              </a:rPr>
              <a:t>iune de transport consolidată. De</a:t>
            </a:r>
            <a:r>
              <a:rPr lang="ro-RO" sz="1400">
                <a:solidFill>
                  <a:schemeClr val="dk1"/>
                </a:solidFill>
                <a:latin typeface="Times New Roman"/>
                <a:ea typeface="Times New Roman"/>
                <a:cs typeface="Times New Roman"/>
                <a:sym typeface="Times New Roman"/>
              </a:rPr>
              <a:t>ș</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o serie de concuren</a:t>
            </a:r>
            <a:r>
              <a:rPr lang="ro-RO" sz="1400">
                <a:solidFill>
                  <a:schemeClr val="dk1"/>
                </a:solidFill>
                <a:latin typeface="Times New Roman"/>
                <a:ea typeface="Times New Roman"/>
                <a:cs typeface="Times New Roman"/>
                <a:sym typeface="Times New Roman"/>
              </a:rPr>
              <a:t>ț</a:t>
            </a:r>
            <a:r>
              <a:rPr lang="ro-RO" sz="1400">
                <a:solidFill>
                  <a:schemeClr val="dk1"/>
                </a:solidFill>
              </a:rPr>
              <a:t>i încep de asemenea să se facă remarca</a:t>
            </a:r>
            <a:r>
              <a:rPr lang="ro-RO" sz="1400">
                <a:solidFill>
                  <a:schemeClr val="dk1"/>
                </a:solidFill>
                <a:latin typeface="Times New Roman"/>
                <a:ea typeface="Times New Roman"/>
                <a:cs typeface="Times New Roman"/>
                <a:sym typeface="Times New Roman"/>
              </a:rPr>
              <a:t>ț</a:t>
            </a:r>
            <a:r>
              <a:rPr lang="ro-RO" sz="1400">
                <a:solidFill>
                  <a:schemeClr val="dk1"/>
                </a:solidFill>
              </a:rPr>
              <a:t>i, Uber rămâne aplica</a:t>
            </a:r>
            <a:r>
              <a:rPr lang="ro-RO" sz="1400">
                <a:solidFill>
                  <a:schemeClr val="dk1"/>
                </a:solidFill>
                <a:latin typeface="Times New Roman"/>
                <a:ea typeface="Times New Roman"/>
                <a:cs typeface="Times New Roman"/>
                <a:sym typeface="Times New Roman"/>
              </a:rPr>
              <a:t>ț</a:t>
            </a:r>
            <a:r>
              <a:rPr lang="ro-RO" sz="1400">
                <a:solidFill>
                  <a:schemeClr val="dk1"/>
                </a:solidFill>
              </a:rPr>
              <a:t>ia dominantă în</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toată lumea.</a:t>
            </a:r>
            <a:endParaRPr sz="1400">
              <a:solidFill>
                <a:schemeClr val="dk1"/>
              </a:solidFill>
            </a:endParaRPr>
          </a:p>
          <a:p>
            <a:pPr indent="0" lvl="0" marL="0" rtl="0" algn="l">
              <a:spcBef>
                <a:spcPts val="0"/>
              </a:spcBef>
              <a:spcAft>
                <a:spcPts val="0"/>
              </a:spcAft>
              <a:buNone/>
            </a:pPr>
            <a:r>
              <a:rPr lang="ro-RO" sz="1400">
                <a:solidFill>
                  <a:schemeClr val="dk1"/>
                </a:solidFill>
              </a:rPr>
              <a:t>Este de la sine în</a:t>
            </a:r>
            <a:r>
              <a:rPr lang="ro-RO" sz="1400">
                <a:solidFill>
                  <a:schemeClr val="dk1"/>
                </a:solidFill>
                <a:latin typeface="Times New Roman"/>
                <a:ea typeface="Times New Roman"/>
                <a:cs typeface="Times New Roman"/>
                <a:sym typeface="Times New Roman"/>
              </a:rPr>
              <a:t>ț</a:t>
            </a:r>
            <a:r>
              <a:rPr lang="ro-RO" sz="1400">
                <a:solidFill>
                  <a:schemeClr val="dk1"/>
                </a:solidFill>
              </a:rPr>
              <a:t>eles că Uber a făcut ravagii în industria taxiurilor din marile ora</a:t>
            </a:r>
            <a:r>
              <a:rPr lang="ro-RO" sz="1400">
                <a:solidFill>
                  <a:schemeClr val="dk1"/>
                </a:solidFill>
                <a:latin typeface="Times New Roman"/>
                <a:ea typeface="Times New Roman"/>
                <a:cs typeface="Times New Roman"/>
                <a:sym typeface="Times New Roman"/>
              </a:rPr>
              <a:t>ș</a:t>
            </a:r>
            <a:r>
              <a:rPr lang="ro-RO" sz="1400">
                <a:solidFill>
                  <a:schemeClr val="dk1"/>
                </a:solidFill>
              </a:rPr>
              <a:t>e din</a:t>
            </a:r>
            <a:endParaRPr sz="1400">
              <a:solidFill>
                <a:schemeClr val="dk1"/>
              </a:solidFill>
            </a:endParaRPr>
          </a:p>
          <a:p>
            <a:pPr indent="0" lvl="0" marL="0" rtl="0" algn="l">
              <a:spcBef>
                <a:spcPts val="0"/>
              </a:spcBef>
              <a:spcAft>
                <a:spcPts val="0"/>
              </a:spcAft>
              <a:buNone/>
            </a:pPr>
            <a:r>
              <a:rPr lang="ro-RO" sz="1400">
                <a:solidFill>
                  <a:schemeClr val="dk1"/>
                </a:solidFill>
              </a:rPr>
              <a:t>întreaga lume, fapt ce a dus </a:t>
            </a:r>
            <a:r>
              <a:rPr lang="ro-RO" sz="1400">
                <a:solidFill>
                  <a:schemeClr val="dk1"/>
                </a:solidFill>
                <a:latin typeface="Times New Roman"/>
                <a:ea typeface="Times New Roman"/>
                <a:cs typeface="Times New Roman"/>
                <a:sym typeface="Times New Roman"/>
              </a:rPr>
              <a:t>ș</a:t>
            </a:r>
            <a:r>
              <a:rPr lang="ro-RO" sz="1400">
                <a:solidFill>
                  <a:schemeClr val="dk1"/>
                </a:solidFill>
              </a:rPr>
              <a:t>i la numeroase controverse.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În marile ora</a:t>
            </a:r>
            <a:r>
              <a:rPr lang="ro-RO" sz="1400">
                <a:solidFill>
                  <a:schemeClr val="dk1"/>
                </a:solidFill>
                <a:latin typeface="Times New Roman"/>
                <a:ea typeface="Times New Roman"/>
                <a:cs typeface="Times New Roman"/>
                <a:sym typeface="Times New Roman"/>
              </a:rPr>
              <a:t>ș</a:t>
            </a:r>
            <a:r>
              <a:rPr lang="ro-RO" sz="1400">
                <a:solidFill>
                  <a:schemeClr val="dk1"/>
                </a:solidFill>
              </a:rPr>
              <a:t>e din SUA, taxiul a fost demult un element de bază. Când trebuie să ajungi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undeva rapid, dar nu ai ma</a:t>
            </a:r>
            <a:r>
              <a:rPr lang="ro-RO" sz="1400">
                <a:solidFill>
                  <a:schemeClr val="dk1"/>
                </a:solidFill>
                <a:latin typeface="Times New Roman"/>
                <a:ea typeface="Times New Roman"/>
                <a:cs typeface="Times New Roman"/>
                <a:sym typeface="Times New Roman"/>
              </a:rPr>
              <a:t>ș</a:t>
            </a:r>
            <a:r>
              <a:rPr lang="ro-RO" sz="1400">
                <a:solidFill>
                  <a:schemeClr val="dk1"/>
                </a:solidFill>
              </a:rPr>
              <a:t>ină, aceste cabine galbene prietenoase devin foarte utile. Cu toate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acestea, lucrurile se schimbă rapid - datorită apari</a:t>
            </a:r>
            <a:r>
              <a:rPr lang="ro-RO" sz="1400">
                <a:solidFill>
                  <a:schemeClr val="dk1"/>
                </a:solidFill>
                <a:latin typeface="Times New Roman"/>
                <a:ea typeface="Times New Roman"/>
                <a:cs typeface="Times New Roman"/>
                <a:sym typeface="Times New Roman"/>
              </a:rPr>
              <a:t>ț</a:t>
            </a:r>
            <a:r>
              <a:rPr lang="ro-RO" sz="1400">
                <a:solidFill>
                  <a:schemeClr val="dk1"/>
                </a:solidFill>
              </a:rPr>
              <a:t>iei Uber.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Uber a perturbat industria transportului, oferind ceva mai ieftin, mai u</a:t>
            </a:r>
            <a:r>
              <a:rPr lang="ro-RO" sz="1400">
                <a:solidFill>
                  <a:schemeClr val="dk1"/>
                </a:solidFill>
                <a:latin typeface="Times New Roman"/>
                <a:ea typeface="Times New Roman"/>
                <a:cs typeface="Times New Roman"/>
                <a:sym typeface="Times New Roman"/>
              </a:rPr>
              <a:t>ș</a:t>
            </a:r>
            <a:r>
              <a:rPr lang="ro-RO" sz="1400">
                <a:solidFill>
                  <a:schemeClr val="dk1"/>
                </a:solidFill>
              </a:rPr>
              <a:t>or de folosit </a:t>
            </a:r>
            <a:r>
              <a:rPr lang="ro-RO" sz="1400">
                <a:solidFill>
                  <a:schemeClr val="dk1"/>
                </a:solidFill>
                <a:latin typeface="Times New Roman"/>
                <a:ea typeface="Times New Roman"/>
                <a:cs typeface="Times New Roman"/>
                <a:sym typeface="Times New Roman"/>
              </a:rPr>
              <a:t>ș</a:t>
            </a:r>
            <a:r>
              <a:rPr lang="ro-RO" sz="1400">
                <a:solidFill>
                  <a:schemeClr val="dk1"/>
                </a:solidFill>
              </a:rPr>
              <a:t>i considerabil</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modernizat. Spre deosebire de ridicarea unui taxi din locuri prestabilite, căutarea prin buzunare a</a:t>
            </a:r>
            <a:endParaRPr sz="125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unor bancnote de câ</a:t>
            </a:r>
            <a:r>
              <a:rPr lang="ro-RO" sz="1400">
                <a:solidFill>
                  <a:schemeClr val="dk1"/>
                </a:solidFill>
                <a:latin typeface="Times New Roman"/>
                <a:ea typeface="Times New Roman"/>
                <a:cs typeface="Times New Roman"/>
                <a:sym typeface="Times New Roman"/>
              </a:rPr>
              <a:t>ț</a:t>
            </a:r>
            <a:r>
              <a:rPr lang="ro-RO" sz="1400">
                <a:solidFill>
                  <a:schemeClr val="dk1"/>
                </a:solidFill>
              </a:rPr>
              <a:t>iva dolari </a:t>
            </a:r>
            <a:r>
              <a:rPr lang="ro-RO" sz="1400">
                <a:solidFill>
                  <a:schemeClr val="dk1"/>
                </a:solidFill>
                <a:latin typeface="Times New Roman"/>
                <a:ea typeface="Times New Roman"/>
                <a:cs typeface="Times New Roman"/>
                <a:sym typeface="Times New Roman"/>
              </a:rPr>
              <a:t>ș</a:t>
            </a:r>
            <a:r>
              <a:rPr lang="ro-RO" sz="1400">
                <a:solidFill>
                  <a:schemeClr val="dk1"/>
                </a:solidFill>
              </a:rPr>
              <a:t>i apoi dezbaterea cu privire la cât să da</a:t>
            </a:r>
            <a:r>
              <a:rPr lang="ro-RO" sz="1400">
                <a:solidFill>
                  <a:schemeClr val="dk1"/>
                </a:solidFill>
                <a:latin typeface="Times New Roman"/>
                <a:ea typeface="Times New Roman"/>
                <a:cs typeface="Times New Roman"/>
                <a:sym typeface="Times New Roman"/>
              </a:rPr>
              <a:t>ț</a:t>
            </a:r>
            <a:r>
              <a:rPr lang="ro-RO" sz="1400">
                <a:solidFill>
                  <a:schemeClr val="dk1"/>
                </a:solidFill>
              </a:rPr>
              <a:t>i bac</a:t>
            </a:r>
            <a:r>
              <a:rPr lang="ro-RO" sz="1400">
                <a:solidFill>
                  <a:schemeClr val="dk1"/>
                </a:solidFill>
                <a:latin typeface="Times New Roman"/>
                <a:ea typeface="Times New Roman"/>
                <a:cs typeface="Times New Roman"/>
                <a:sym typeface="Times New Roman"/>
              </a:rPr>
              <a:t>ș</a:t>
            </a:r>
            <a:r>
              <a:rPr lang="ro-RO" sz="1400">
                <a:solidFill>
                  <a:schemeClr val="dk1"/>
                </a:solidFill>
              </a:rPr>
              <a:t>i</a:t>
            </a:r>
            <a:r>
              <a:rPr lang="ro-RO" sz="1400">
                <a:solidFill>
                  <a:schemeClr val="dk1"/>
                </a:solidFill>
                <a:latin typeface="Times New Roman"/>
                <a:ea typeface="Times New Roman"/>
                <a:cs typeface="Times New Roman"/>
                <a:sym typeface="Times New Roman"/>
              </a:rPr>
              <a:t>ș</a:t>
            </a:r>
            <a:r>
              <a:rPr lang="ro-RO" sz="1400">
                <a:solidFill>
                  <a:schemeClr val="dk1"/>
                </a:solidFill>
              </a:rPr>
              <a:t>, pur </a:t>
            </a:r>
            <a:r>
              <a:rPr lang="ro-RO" sz="1400">
                <a:solidFill>
                  <a:schemeClr val="dk1"/>
                </a:solidFill>
                <a:latin typeface="Times New Roman"/>
                <a:ea typeface="Times New Roman"/>
                <a:cs typeface="Times New Roman"/>
                <a:sym typeface="Times New Roman"/>
              </a:rPr>
              <a:t>ș</a:t>
            </a:r>
            <a:r>
              <a:rPr lang="ro-RO" sz="1400">
                <a:solidFill>
                  <a:schemeClr val="dk1"/>
                </a:solidFill>
              </a:rPr>
              <a:t>i simplu apăsa</a:t>
            </a:r>
            <a:r>
              <a:rPr lang="ro-RO" sz="1400">
                <a:solidFill>
                  <a:schemeClr val="dk1"/>
                </a:solidFill>
                <a:latin typeface="Times New Roman"/>
                <a:ea typeface="Times New Roman"/>
                <a:cs typeface="Times New Roman"/>
                <a:sym typeface="Times New Roman"/>
              </a:rPr>
              <a:t>ț</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un buton pe o aplica</a:t>
            </a:r>
            <a:r>
              <a:rPr lang="ro-RO" sz="1400">
                <a:solidFill>
                  <a:schemeClr val="dk1"/>
                </a:solidFill>
                <a:latin typeface="Times New Roman"/>
                <a:ea typeface="Times New Roman"/>
                <a:cs typeface="Times New Roman"/>
                <a:sym typeface="Times New Roman"/>
              </a:rPr>
              <a:t>ț</a:t>
            </a:r>
            <a:r>
              <a:rPr lang="ro-RO" sz="1400">
                <a:solidFill>
                  <a:schemeClr val="dk1"/>
                </a:solidFill>
              </a:rPr>
              <a:t>ie. Toată plata are loc prin intermediul aplica</a:t>
            </a:r>
            <a:r>
              <a:rPr lang="ro-RO" sz="1400">
                <a:solidFill>
                  <a:schemeClr val="dk1"/>
                </a:solidFill>
                <a:latin typeface="Times New Roman"/>
                <a:ea typeface="Times New Roman"/>
                <a:cs typeface="Times New Roman"/>
                <a:sym typeface="Times New Roman"/>
              </a:rPr>
              <a:t>ț</a:t>
            </a:r>
            <a:r>
              <a:rPr lang="ro-RO" sz="1400">
                <a:solidFill>
                  <a:schemeClr val="dk1"/>
                </a:solidFill>
              </a:rPr>
              <a:t>iei, a</a:t>
            </a:r>
            <a:r>
              <a:rPr lang="ro-RO" sz="1400">
                <a:solidFill>
                  <a:schemeClr val="dk1"/>
                </a:solidFill>
                <a:latin typeface="Times New Roman"/>
                <a:ea typeface="Times New Roman"/>
                <a:cs typeface="Times New Roman"/>
                <a:sym typeface="Times New Roman"/>
              </a:rPr>
              <a:t>ș</a:t>
            </a:r>
            <a:r>
              <a:rPr lang="ro-RO" sz="1400">
                <a:solidFill>
                  <a:schemeClr val="dk1"/>
                </a:solidFill>
              </a:rPr>
              <a:t>a că pur </a:t>
            </a:r>
            <a:r>
              <a:rPr lang="ro-RO" sz="1400">
                <a:solidFill>
                  <a:schemeClr val="dk1"/>
                </a:solidFill>
                <a:latin typeface="Times New Roman"/>
                <a:ea typeface="Times New Roman"/>
                <a:cs typeface="Times New Roman"/>
                <a:sym typeface="Times New Roman"/>
              </a:rPr>
              <a:t>ș</a:t>
            </a:r>
            <a:r>
              <a:rPr lang="ro-RO" sz="1400">
                <a:solidFill>
                  <a:schemeClr val="dk1"/>
                </a:solidFill>
              </a:rPr>
              <a:t>i simplu intra</a:t>
            </a:r>
            <a:r>
              <a:rPr lang="ro-RO" sz="1400">
                <a:solidFill>
                  <a:schemeClr val="dk1"/>
                </a:solidFill>
                <a:latin typeface="Times New Roman"/>
                <a:ea typeface="Times New Roman"/>
                <a:cs typeface="Times New Roman"/>
                <a:sym typeface="Times New Roman"/>
              </a:rPr>
              <a:t>ț</a:t>
            </a:r>
            <a:r>
              <a:rPr lang="ro-RO" sz="1400">
                <a:solidFill>
                  <a:schemeClr val="dk1"/>
                </a:solidFill>
              </a:rPr>
              <a:t>i </a:t>
            </a:r>
            <a:r>
              <a:rPr lang="ro-RO" sz="1400">
                <a:solidFill>
                  <a:schemeClr val="dk1"/>
                </a:solidFill>
                <a:latin typeface="Times New Roman"/>
                <a:ea typeface="Times New Roman"/>
                <a:cs typeface="Times New Roman"/>
                <a:sym typeface="Times New Roman"/>
              </a:rPr>
              <a:t>ș</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ie</a:t>
            </a:r>
            <a:r>
              <a:rPr lang="ro-RO" sz="1400">
                <a:solidFill>
                  <a:schemeClr val="dk1"/>
                </a:solidFill>
                <a:latin typeface="Times New Roman"/>
                <a:ea typeface="Times New Roman"/>
                <a:cs typeface="Times New Roman"/>
                <a:sym typeface="Times New Roman"/>
              </a:rPr>
              <a:t>ș</a:t>
            </a:r>
            <a:r>
              <a:rPr lang="ro-RO" sz="1400">
                <a:solidFill>
                  <a:schemeClr val="dk1"/>
                </a:solidFill>
              </a:rPr>
              <a:t>i</a:t>
            </a:r>
            <a:r>
              <a:rPr lang="ro-RO" sz="1400">
                <a:solidFill>
                  <a:schemeClr val="dk1"/>
                </a:solidFill>
                <a:latin typeface="Times New Roman"/>
                <a:ea typeface="Times New Roman"/>
                <a:cs typeface="Times New Roman"/>
                <a:sym typeface="Times New Roman"/>
              </a:rPr>
              <a:t>ț</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În New York, probabil ”casa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taxiurilor” din lume, Uber a devenit cea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mai populară formă de transport privat,</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în ceea ce prive</a:t>
            </a:r>
            <a:r>
              <a:rPr lang="ro-RO" sz="1400">
                <a:solidFill>
                  <a:schemeClr val="dk1"/>
                </a:solidFill>
                <a:latin typeface="Times New Roman"/>
                <a:ea typeface="Times New Roman"/>
                <a:cs typeface="Times New Roman"/>
                <a:sym typeface="Times New Roman"/>
              </a:rPr>
              <a:t>ș</a:t>
            </a:r>
            <a:r>
              <a:rPr lang="ro-RO" sz="1400">
                <a:solidFill>
                  <a:schemeClr val="dk1"/>
                </a:solidFill>
              </a:rPr>
              <a:t>te călătoriile zilnice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(din septembrie 2017). De atunci, cu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excep</a:t>
            </a:r>
            <a:r>
              <a:rPr lang="ro-RO" sz="1400">
                <a:solidFill>
                  <a:schemeClr val="dk1"/>
                </a:solidFill>
                <a:latin typeface="Times New Roman"/>
                <a:ea typeface="Times New Roman"/>
                <a:cs typeface="Times New Roman"/>
                <a:sym typeface="Times New Roman"/>
              </a:rPr>
              <a:t>ț</a:t>
            </a:r>
            <a:r>
              <a:rPr lang="ro-RO" sz="1400">
                <a:solidFill>
                  <a:schemeClr val="dk1"/>
                </a:solidFill>
              </a:rPr>
              <a:t>ia a câteva scăderi minore, 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fost pe primul loc </a:t>
            </a:r>
            <a:r>
              <a:rPr lang="ro-RO" sz="1400">
                <a:solidFill>
                  <a:schemeClr val="dk1"/>
                </a:solidFill>
                <a:latin typeface="Times New Roman"/>
                <a:ea typeface="Times New Roman"/>
                <a:cs typeface="Times New Roman"/>
                <a:sym typeface="Times New Roman"/>
              </a:rPr>
              <a:t>ș</a:t>
            </a:r>
            <a:r>
              <a:rPr lang="ro-RO" sz="1400">
                <a:solidFill>
                  <a:schemeClr val="dk1"/>
                </a:solidFill>
              </a:rPr>
              <a:t>i a continuat mereu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să se îndepărteze de rivalii săi.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Potrivit lui Todd W. Schneider,</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cursele zilnice Uber din New York au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atins nivelul maxim în martie 2019, la</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556.000 (se crede că tarifele în</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cre</a:t>
            </a:r>
            <a:r>
              <a:rPr lang="ro-RO" sz="1400">
                <a:solidFill>
                  <a:schemeClr val="dk1"/>
                </a:solidFill>
                <a:latin typeface="Times New Roman"/>
                <a:ea typeface="Times New Roman"/>
                <a:cs typeface="Times New Roman"/>
                <a:sym typeface="Times New Roman"/>
              </a:rPr>
              <a:t>ș</a:t>
            </a:r>
            <a:r>
              <a:rPr lang="ro-RO" sz="1400">
                <a:solidFill>
                  <a:schemeClr val="dk1"/>
                </a:solidFill>
              </a:rPr>
              <a:t>tere au dus la o scădere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ulterioară). Totu</a:t>
            </a:r>
            <a:r>
              <a:rPr lang="ro-RO" sz="1400">
                <a:solidFill>
                  <a:schemeClr val="dk1"/>
                </a:solidFill>
                <a:latin typeface="Times New Roman"/>
                <a:ea typeface="Times New Roman"/>
                <a:cs typeface="Times New Roman"/>
                <a:sym typeface="Times New Roman"/>
              </a:rPr>
              <a:t>ș</a:t>
            </a:r>
            <a:r>
              <a:rPr lang="ro-RO" sz="1400">
                <a:solidFill>
                  <a:schemeClr val="dk1"/>
                </a:solidFill>
              </a:rPr>
              <a:t>i, la sfâr</a:t>
            </a:r>
            <a:r>
              <a:rPr lang="ro-RO" sz="1400">
                <a:solidFill>
                  <a:schemeClr val="dk1"/>
                </a:solidFill>
                <a:latin typeface="Times New Roman"/>
                <a:ea typeface="Times New Roman"/>
                <a:cs typeface="Times New Roman"/>
                <a:sym typeface="Times New Roman"/>
              </a:rPr>
              <a:t>ș</a:t>
            </a:r>
            <a:r>
              <a:rPr lang="ro-RO" sz="1400">
                <a:solidFill>
                  <a:schemeClr val="dk1"/>
                </a:solidFill>
              </a:rPr>
              <a:t>itul lunii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februarie 2020, cifrele aproape că s-au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întors la acest vârf zilnic, cu 543.000 de curse zilnice Uber, comparativ cu 231.000 de curse cu taxiul</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latin typeface="Times New Roman"/>
                <a:ea typeface="Times New Roman"/>
                <a:cs typeface="Times New Roman"/>
                <a:sym typeface="Times New Roman"/>
              </a:rPr>
              <a:t>ș</a:t>
            </a:r>
            <a:r>
              <a:rPr lang="ro-RO" sz="1400">
                <a:solidFill>
                  <a:schemeClr val="dk1"/>
                </a:solidFill>
              </a:rPr>
              <a:t>i 184.000 de curse cu Lyft. Pandemia de coronavirus a dus, desigur, la un declin semnificativ, cu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103.000 de curse zilnice Uber înregistrate în aprilie 2020.</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Unul dintre motivele pentru care concuren</a:t>
            </a:r>
            <a:r>
              <a:rPr lang="ro-RO" sz="1400">
                <a:solidFill>
                  <a:schemeClr val="dk1"/>
                </a:solidFill>
                <a:latin typeface="Times New Roman"/>
                <a:ea typeface="Times New Roman"/>
                <a:cs typeface="Times New Roman"/>
                <a:sym typeface="Times New Roman"/>
              </a:rPr>
              <a:t>ț</a:t>
            </a:r>
            <a:r>
              <a:rPr lang="ro-RO" sz="1400">
                <a:solidFill>
                  <a:schemeClr val="dk1"/>
                </a:solidFill>
              </a:rPr>
              <a:t>ii Uber au fost atât de înfrân</a:t>
            </a:r>
            <a:r>
              <a:rPr lang="ro-RO" sz="1400">
                <a:solidFill>
                  <a:schemeClr val="dk1"/>
                </a:solidFill>
                <a:latin typeface="Times New Roman"/>
                <a:ea typeface="Times New Roman"/>
                <a:cs typeface="Times New Roman"/>
                <a:sym typeface="Times New Roman"/>
              </a:rPr>
              <a:t>ț</a:t>
            </a:r>
            <a:r>
              <a:rPr lang="ro-RO" sz="1400">
                <a:solidFill>
                  <a:schemeClr val="dk1"/>
                </a:solidFill>
              </a:rPr>
              <a:t>i se datorează</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dimensiunii considerabil mai mari a flotei sale. Aproximativ 79.000 de vehicule Uber au fost</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disponibile newyorkezilor în ianuarie 2019 (cifra de vârf), comparativ cu vehiculele 50.000 Lyft (de</a:t>
            </a:r>
            <a:r>
              <a:rPr lang="ro-RO" sz="1400">
                <a:solidFill>
                  <a:schemeClr val="dk1"/>
                </a:solidFill>
                <a:latin typeface="Times New Roman"/>
                <a:ea typeface="Times New Roman"/>
                <a:cs typeface="Times New Roman"/>
                <a:sym typeface="Times New Roman"/>
              </a:rPr>
              <a:t>ș</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acestea au atins în aprilie 2019, 53.000) </a:t>
            </a:r>
            <a:r>
              <a:rPr lang="ro-RO" sz="1400">
                <a:solidFill>
                  <a:schemeClr val="dk1"/>
                </a:solidFill>
                <a:latin typeface="Times New Roman"/>
                <a:ea typeface="Times New Roman"/>
                <a:cs typeface="Times New Roman"/>
                <a:sym typeface="Times New Roman"/>
              </a:rPr>
              <a:t>ș</a:t>
            </a:r>
            <a:r>
              <a:rPr lang="ro-RO" sz="1400">
                <a:solidFill>
                  <a:schemeClr val="dk1"/>
                </a:solidFill>
              </a:rPr>
              <a:t>i doar 15.000 de ma</a:t>
            </a:r>
            <a:r>
              <a:rPr lang="ro-RO" sz="1400">
                <a:solidFill>
                  <a:schemeClr val="dk1"/>
                </a:solidFill>
                <a:latin typeface="Times New Roman"/>
                <a:ea typeface="Times New Roman"/>
                <a:cs typeface="Times New Roman"/>
                <a:sym typeface="Times New Roman"/>
              </a:rPr>
              <a:t>ș</a:t>
            </a:r>
            <a:r>
              <a:rPr lang="ro-RO" sz="1400">
                <a:solidFill>
                  <a:schemeClr val="dk1"/>
                </a:solidFill>
              </a:rPr>
              <a:t>ini de taxi (numărul vehiculelor nu</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reprezintă neapărat numărul de </a:t>
            </a:r>
            <a:r>
              <a:rPr lang="ro-RO" sz="1400">
                <a:solidFill>
                  <a:schemeClr val="dk1"/>
                </a:solidFill>
                <a:latin typeface="Times New Roman"/>
                <a:ea typeface="Times New Roman"/>
                <a:cs typeface="Times New Roman"/>
                <a:sym typeface="Times New Roman"/>
              </a:rPr>
              <a:t>ș</a:t>
            </a:r>
            <a:r>
              <a:rPr lang="ro-RO" sz="1400">
                <a:solidFill>
                  <a:schemeClr val="dk1"/>
                </a:solidFill>
              </a:rPr>
              <a:t>oferi Uber existen</a:t>
            </a:r>
            <a:r>
              <a:rPr lang="ro-RO" sz="1400">
                <a:solidFill>
                  <a:schemeClr val="dk1"/>
                </a:solidFill>
                <a:latin typeface="Times New Roman"/>
                <a:ea typeface="Times New Roman"/>
                <a:cs typeface="Times New Roman"/>
                <a:sym typeface="Times New Roman"/>
              </a:rPr>
              <a:t>ț</a:t>
            </a:r>
            <a:r>
              <a:rPr lang="ro-RO" sz="1400">
                <a:solidFill>
                  <a:schemeClr val="dk1"/>
                </a:solidFill>
              </a:rPr>
              <a:t>i în New York - </a:t>
            </a:r>
            <a:r>
              <a:rPr lang="ro-RO" sz="1400">
                <a:solidFill>
                  <a:schemeClr val="dk1"/>
                </a:solidFill>
                <a:latin typeface="Times New Roman"/>
                <a:ea typeface="Times New Roman"/>
                <a:cs typeface="Times New Roman"/>
                <a:sym typeface="Times New Roman"/>
              </a:rPr>
              <a:t>ș</a:t>
            </a:r>
            <a:r>
              <a:rPr lang="ro-RO" sz="1400">
                <a:solidFill>
                  <a:schemeClr val="dk1"/>
                </a:solidFill>
              </a:rPr>
              <a:t>oferii pot partaja sau, mai pu</a:t>
            </a:r>
            <a:r>
              <a:rPr lang="ro-RO" sz="1400">
                <a:solidFill>
                  <a:schemeClr val="dk1"/>
                </a:solidFill>
                <a:latin typeface="Times New Roman"/>
                <a:ea typeface="Times New Roman"/>
                <a:cs typeface="Times New Roman"/>
                <a:sym typeface="Times New Roman"/>
              </a:rPr>
              <a:t>ț</a:t>
            </a:r>
            <a:r>
              <a:rPr lang="ro-RO" sz="1400">
                <a:solidFill>
                  <a:schemeClr val="dk1"/>
                </a:solidFill>
              </a:rPr>
              <a:t>in</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probabil, de</a:t>
            </a:r>
            <a:r>
              <a:rPr lang="ro-RO" sz="1400">
                <a:solidFill>
                  <a:schemeClr val="dk1"/>
                </a:solidFill>
                <a:latin typeface="Times New Roman"/>
                <a:ea typeface="Times New Roman"/>
                <a:cs typeface="Times New Roman"/>
                <a:sym typeface="Times New Roman"/>
              </a:rPr>
              <a:t>ț</a:t>
            </a:r>
            <a:r>
              <a:rPr lang="ro-RO" sz="1400">
                <a:solidFill>
                  <a:schemeClr val="dk1"/>
                </a:solidFill>
              </a:rPr>
              <a:t>in mai multe vehicule).</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După cum a arătat Uber, oamenilor le place simplitatea </a:t>
            </a:r>
            <a:r>
              <a:rPr lang="ro-RO" sz="1400">
                <a:solidFill>
                  <a:schemeClr val="dk1"/>
                </a:solidFill>
                <a:latin typeface="Times New Roman"/>
                <a:ea typeface="Times New Roman"/>
                <a:cs typeface="Times New Roman"/>
                <a:sym typeface="Times New Roman"/>
              </a:rPr>
              <a:t>ș</a:t>
            </a:r>
            <a:r>
              <a:rPr lang="ro-RO" sz="1400">
                <a:solidFill>
                  <a:schemeClr val="dk1"/>
                </a:solidFill>
              </a:rPr>
              <a:t>i personalizarea. Dacă po</a:t>
            </a:r>
            <a:r>
              <a:rPr lang="ro-RO" sz="1400">
                <a:solidFill>
                  <a:schemeClr val="dk1"/>
                </a:solidFill>
                <a:latin typeface="Times New Roman"/>
                <a:ea typeface="Times New Roman"/>
                <a:cs typeface="Times New Roman"/>
                <a:sym typeface="Times New Roman"/>
              </a:rPr>
              <a:t>ț</a:t>
            </a:r>
            <a:r>
              <a:rPr lang="ro-RO" sz="1400">
                <a:solidFill>
                  <a:schemeClr val="dk1"/>
                </a:solidFill>
              </a:rPr>
              <a:t>i să iei un</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proces obi</a:t>
            </a:r>
            <a:r>
              <a:rPr lang="ro-RO" sz="1400">
                <a:solidFill>
                  <a:schemeClr val="dk1"/>
                </a:solidFill>
                <a:latin typeface="Times New Roman"/>
                <a:ea typeface="Times New Roman"/>
                <a:cs typeface="Times New Roman"/>
                <a:sym typeface="Times New Roman"/>
              </a:rPr>
              <a:t>ș</a:t>
            </a:r>
            <a:r>
              <a:rPr lang="ro-RO" sz="1400">
                <a:solidFill>
                  <a:schemeClr val="dk1"/>
                </a:solidFill>
              </a:rPr>
              <a:t>nuit </a:t>
            </a:r>
            <a:r>
              <a:rPr lang="ro-RO" sz="1400">
                <a:solidFill>
                  <a:schemeClr val="dk1"/>
                </a:solidFill>
                <a:latin typeface="Times New Roman"/>
                <a:ea typeface="Times New Roman"/>
                <a:cs typeface="Times New Roman"/>
                <a:sym typeface="Times New Roman"/>
              </a:rPr>
              <a:t>ș</a:t>
            </a:r>
            <a:r>
              <a:rPr lang="ro-RO" sz="1400">
                <a:solidFill>
                  <a:schemeClr val="dk1"/>
                </a:solidFill>
              </a:rPr>
              <a:t>i să-i dai o tentă modernă, tehnologizată, po</a:t>
            </a:r>
            <a:r>
              <a:rPr lang="ro-RO" sz="1400">
                <a:solidFill>
                  <a:schemeClr val="dk1"/>
                </a:solidFill>
                <a:latin typeface="Times New Roman"/>
                <a:ea typeface="Times New Roman"/>
                <a:cs typeface="Times New Roman"/>
                <a:sym typeface="Times New Roman"/>
              </a:rPr>
              <a:t>ț</a:t>
            </a:r>
            <a:r>
              <a:rPr lang="ro-RO" sz="1400">
                <a:solidFill>
                  <a:schemeClr val="dk1"/>
                </a:solidFill>
              </a:rPr>
              <a:t>i face o mare diferen</a:t>
            </a:r>
            <a:r>
              <a:rPr lang="ro-RO" sz="1400">
                <a:solidFill>
                  <a:schemeClr val="dk1"/>
                </a:solidFill>
                <a:latin typeface="Times New Roman"/>
                <a:ea typeface="Times New Roman"/>
                <a:cs typeface="Times New Roman"/>
                <a:sym typeface="Times New Roman"/>
              </a:rPr>
              <a:t>ț</a:t>
            </a:r>
            <a:r>
              <a:rPr lang="ro-RO" sz="1400">
                <a:solidFill>
                  <a:schemeClr val="dk1"/>
                </a:solidFill>
              </a:rPr>
              <a:t>ă. </a:t>
            </a:r>
            <a:r>
              <a:rPr lang="ro-RO" sz="1400">
                <a:solidFill>
                  <a:schemeClr val="dk1"/>
                </a:solidFill>
                <a:latin typeface="Times New Roman"/>
                <a:ea typeface="Times New Roman"/>
                <a:cs typeface="Times New Roman"/>
                <a:sym typeface="Times New Roman"/>
              </a:rPr>
              <a:t>Ș</a:t>
            </a:r>
            <a:r>
              <a:rPr lang="ro-RO" sz="1400">
                <a:solidFill>
                  <a:schemeClr val="dk1"/>
                </a:solidFill>
              </a:rPr>
              <a:t>i, dacă pute</a:t>
            </a:r>
            <a:r>
              <a:rPr lang="ro-RO" sz="1400">
                <a:solidFill>
                  <a:schemeClr val="dk1"/>
                </a:solidFill>
                <a:latin typeface="Times New Roman"/>
                <a:ea typeface="Times New Roman"/>
                <a:cs typeface="Times New Roman"/>
                <a:sym typeface="Times New Roman"/>
              </a:rPr>
              <a:t>ț</a:t>
            </a:r>
            <a:r>
              <a:rPr lang="ro-RO" sz="1400">
                <a:solidFill>
                  <a:schemeClr val="dk1"/>
                </a:solidFill>
              </a:rPr>
              <a:t>i</a:t>
            </a:r>
            <a:endParaRPr sz="1400">
              <a:solidFill>
                <a:schemeClr val="dk1"/>
              </a:solidFill>
            </a:endParaRPr>
          </a:p>
          <a:p>
            <a:pPr indent="0" lvl="0" marL="0" rtl="0" algn="l">
              <a:spcBef>
                <a:spcPts val="0"/>
              </a:spcBef>
              <a:spcAft>
                <a:spcPts val="0"/>
              </a:spcAft>
              <a:buClr>
                <a:schemeClr val="dk1"/>
              </a:buClr>
              <a:buSzPts val="1100"/>
              <a:buFont typeface="Arial"/>
              <a:buNone/>
            </a:pPr>
            <a:r>
              <a:rPr lang="ro-RO" sz="1400">
                <a:solidFill>
                  <a:schemeClr val="dk1"/>
                </a:solidFill>
              </a:rPr>
              <a:t>face acest lucru în timp ce îl face</a:t>
            </a:r>
            <a:r>
              <a:rPr lang="ro-RO" sz="1400">
                <a:solidFill>
                  <a:schemeClr val="dk1"/>
                </a:solidFill>
                <a:latin typeface="Times New Roman"/>
                <a:ea typeface="Times New Roman"/>
                <a:cs typeface="Times New Roman"/>
                <a:sym typeface="Times New Roman"/>
              </a:rPr>
              <a:t>ț</a:t>
            </a:r>
            <a:r>
              <a:rPr lang="ro-RO" sz="1400">
                <a:solidFill>
                  <a:schemeClr val="dk1"/>
                </a:solidFill>
              </a:rPr>
              <a:t>i mai ieftin pentru consumator, </a:t>
            </a:r>
            <a:r>
              <a:rPr lang="ro-RO" sz="1400">
                <a:solidFill>
                  <a:schemeClr val="dk1"/>
                </a:solidFill>
                <a:latin typeface="Times New Roman"/>
                <a:ea typeface="Times New Roman"/>
                <a:cs typeface="Times New Roman"/>
                <a:sym typeface="Times New Roman"/>
              </a:rPr>
              <a:t>ș</a:t>
            </a:r>
            <a:r>
              <a:rPr lang="ro-RO" sz="1400">
                <a:solidFill>
                  <a:schemeClr val="dk1"/>
                </a:solidFill>
              </a:rPr>
              <a:t>ansele de a avea succes sunt</a:t>
            </a:r>
            <a:endParaRPr sz="1400">
              <a:solidFill>
                <a:schemeClr val="dk1"/>
              </a:solidFill>
            </a:endParaRPr>
          </a:p>
          <a:p>
            <a:pPr indent="0" lvl="0" marL="0" rtl="0" algn="l">
              <a:spcBef>
                <a:spcPts val="0"/>
              </a:spcBef>
              <a:spcAft>
                <a:spcPts val="0"/>
              </a:spcAft>
              <a:buNone/>
            </a:pPr>
            <a:r>
              <a:rPr lang="ro-RO" sz="1400">
                <a:solidFill>
                  <a:schemeClr val="dk1"/>
                </a:solidFill>
              </a:rPr>
              <a:t>crescute dramatic.</a:t>
            </a:r>
            <a:endParaRPr sz="1400">
              <a:solidFill>
                <a:schemeClr val="dk1"/>
              </a:solidFill>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RO"/>
              <a:t>Anghel:</a:t>
            </a:r>
            <a:endParaRPr/>
          </a:p>
          <a:p>
            <a:pPr indent="-298450" lvl="0" marL="457200" rtl="0" algn="l">
              <a:spcBef>
                <a:spcPts val="0"/>
              </a:spcBef>
              <a:spcAft>
                <a:spcPts val="0"/>
              </a:spcAft>
              <a:buSzPts val="1100"/>
              <a:buAutoNum type="arabicPeriod"/>
            </a:pPr>
            <a:r>
              <a:rPr lang="ro-RO"/>
              <a:t>De exemplu, casa bunicilor mei care nu mai era folosita, a fost pusa pe airbnb si acum este inchiriata non-stop</a:t>
            </a:r>
            <a:endParaRPr/>
          </a:p>
          <a:p>
            <a:pPr indent="0" lvl="0" marL="0" rtl="0" algn="l">
              <a:spcBef>
                <a:spcPts val="0"/>
              </a:spcBef>
              <a:spcAft>
                <a:spcPts val="0"/>
              </a:spcAft>
              <a:buNone/>
            </a:pPr>
            <a:r>
              <a:rPr lang="ro-RO"/>
              <a:t>2-3. 	Noile idei se bazeaza din ce in ce mai mult pe economia colaborativa, intrucat la inceput banii sunt putini si o astfel de idee nu necesita o investitia mare initiala</a:t>
            </a:r>
            <a:endParaRPr/>
          </a:p>
          <a:p>
            <a:pPr indent="0" lvl="0" marL="0" rtl="0" algn="l">
              <a:spcBef>
                <a:spcPts val="0"/>
              </a:spcBef>
              <a:spcAft>
                <a:spcPts val="0"/>
              </a:spcAft>
              <a:buNone/>
            </a:pPr>
            <a:r>
              <a:rPr lang="ro-RO"/>
              <a:t>   4. 	Vedeti cate start-uri se creeaza in prezent in Romania, majoritatea antreprenori tineri, ce au avut o idee. Unii au dus-o mai departe, altii au vandut-o si asta nu pe    sume mici</a:t>
            </a:r>
            <a:endParaRPr/>
          </a:p>
          <a:p>
            <a:pPr indent="0" lvl="0" marL="0" rtl="0" algn="l">
              <a:spcBef>
                <a:spcPts val="0"/>
              </a:spcBef>
              <a:spcAft>
                <a:spcPts val="0"/>
              </a:spcAft>
              <a:buNone/>
            </a:pPr>
            <a:r>
              <a:t/>
            </a:r>
            <a:endParaRPr/>
          </a:p>
        </p:txBody>
      </p:sp>
      <p:sp>
        <p:nvSpPr>
          <p:cNvPr id="165" name="Google Shape;1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RO"/>
              <a:t>Bărbuță</a:t>
            </a:r>
            <a:endParaRPr/>
          </a:p>
        </p:txBody>
      </p:sp>
      <p:sp>
        <p:nvSpPr>
          <p:cNvPr id="187" name="Google Shape;18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2000"/>
              <a:buNone/>
              <a:defRPr sz="2000">
                <a:latin typeface="Avenir"/>
                <a:ea typeface="Avenir"/>
                <a:cs typeface="Avenir"/>
                <a:sym typeface="Avenir"/>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9"/>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9"/>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9"/>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lt1"/>
                </a:solidFill>
                <a:latin typeface="Avenir"/>
                <a:ea typeface="Avenir"/>
                <a:cs typeface="Avenir"/>
                <a:sym typeface="Avenir"/>
              </a:defRPr>
            </a:lvl1pPr>
            <a:lvl2pPr indent="0" lvl="1" marL="0" algn="r">
              <a:spcBef>
                <a:spcPts val="0"/>
              </a:spcBef>
              <a:buNone/>
              <a:defRPr b="0" i="0" sz="900" u="none" cap="none" strike="noStrike">
                <a:solidFill>
                  <a:schemeClr val="lt1"/>
                </a:solidFill>
                <a:latin typeface="Avenir"/>
                <a:ea typeface="Avenir"/>
                <a:cs typeface="Avenir"/>
                <a:sym typeface="Avenir"/>
              </a:defRPr>
            </a:lvl2pPr>
            <a:lvl3pPr indent="0" lvl="2" marL="0" algn="r">
              <a:spcBef>
                <a:spcPts val="0"/>
              </a:spcBef>
              <a:buNone/>
              <a:defRPr b="0" i="0" sz="900" u="none" cap="none" strike="noStrike">
                <a:solidFill>
                  <a:schemeClr val="lt1"/>
                </a:solidFill>
                <a:latin typeface="Avenir"/>
                <a:ea typeface="Avenir"/>
                <a:cs typeface="Avenir"/>
                <a:sym typeface="Avenir"/>
              </a:defRPr>
            </a:lvl3pPr>
            <a:lvl4pPr indent="0" lvl="3" marL="0" algn="r">
              <a:spcBef>
                <a:spcPts val="0"/>
              </a:spcBef>
              <a:buNone/>
              <a:defRPr b="0" i="0" sz="900" u="none" cap="none" strike="noStrike">
                <a:solidFill>
                  <a:schemeClr val="lt1"/>
                </a:solidFill>
                <a:latin typeface="Avenir"/>
                <a:ea typeface="Avenir"/>
                <a:cs typeface="Avenir"/>
                <a:sym typeface="Avenir"/>
              </a:defRPr>
            </a:lvl4pPr>
            <a:lvl5pPr indent="0" lvl="4" marL="0" algn="r">
              <a:spcBef>
                <a:spcPts val="0"/>
              </a:spcBef>
              <a:buNone/>
              <a:defRPr b="0" i="0" sz="900" u="none" cap="none" strike="noStrike">
                <a:solidFill>
                  <a:schemeClr val="lt1"/>
                </a:solidFill>
                <a:latin typeface="Avenir"/>
                <a:ea typeface="Avenir"/>
                <a:cs typeface="Avenir"/>
                <a:sym typeface="Avenir"/>
              </a:defRPr>
            </a:lvl5pPr>
            <a:lvl6pPr indent="0" lvl="5" marL="0" algn="r">
              <a:spcBef>
                <a:spcPts val="0"/>
              </a:spcBef>
              <a:buNone/>
              <a:defRPr b="0" i="0" sz="900" u="none" cap="none" strike="noStrike">
                <a:solidFill>
                  <a:schemeClr val="lt1"/>
                </a:solidFill>
                <a:latin typeface="Avenir"/>
                <a:ea typeface="Avenir"/>
                <a:cs typeface="Avenir"/>
                <a:sym typeface="Avenir"/>
              </a:defRPr>
            </a:lvl6pPr>
            <a:lvl7pPr indent="0" lvl="6" marL="0" algn="r">
              <a:spcBef>
                <a:spcPts val="0"/>
              </a:spcBef>
              <a:buNone/>
              <a:defRPr b="0" i="0" sz="900" u="none" cap="none" strike="noStrike">
                <a:solidFill>
                  <a:schemeClr val="lt1"/>
                </a:solidFill>
                <a:latin typeface="Avenir"/>
                <a:ea typeface="Avenir"/>
                <a:cs typeface="Avenir"/>
                <a:sym typeface="Avenir"/>
              </a:defRPr>
            </a:lvl7pPr>
            <a:lvl8pPr indent="0" lvl="7" marL="0" algn="r">
              <a:spcBef>
                <a:spcPts val="0"/>
              </a:spcBef>
              <a:buNone/>
              <a:defRPr b="0" i="0" sz="900" u="none" cap="none" strike="noStrike">
                <a:solidFill>
                  <a:schemeClr val="lt1"/>
                </a:solidFill>
                <a:latin typeface="Avenir"/>
                <a:ea typeface="Avenir"/>
                <a:cs typeface="Avenir"/>
                <a:sym typeface="Avenir"/>
              </a:defRPr>
            </a:lvl8pPr>
            <a:lvl9pPr indent="0" lvl="8" marL="0" algn="r">
              <a:spcBef>
                <a:spcPts val="0"/>
              </a:spcBef>
              <a:buNone/>
              <a:defRPr b="0" i="0" sz="9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0"/>
          <p:cNvSpPr txBox="1"/>
          <p:nvPr>
            <p:ph type="title"/>
          </p:nvPr>
        </p:nvSpPr>
        <p:spPr>
          <a:xfrm>
            <a:off x="838200" y="365760"/>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0"/>
          <p:cNvSpPr txBox="1"/>
          <p:nvPr>
            <p:ph idx="1" type="body"/>
          </p:nvPr>
        </p:nvSpPr>
        <p:spPr>
          <a:xfrm>
            <a:off x="838200" y="1949450"/>
            <a:ext cx="10515600" cy="419576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0"/>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5" name="Shape 25"/>
        <p:cNvGrpSpPr/>
        <p:nvPr/>
      </p:nvGrpSpPr>
      <p:grpSpPr>
        <a:xfrm>
          <a:off x="0" y="0"/>
          <a:ext cx="0" cy="0"/>
          <a:chOff x="0" y="0"/>
          <a:chExt cx="0" cy="0"/>
        </a:xfrm>
      </p:grpSpPr>
      <p:sp>
        <p:nvSpPr>
          <p:cNvPr id="26" name="Google Shape;26;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1"/>
          <p:cNvSpPr txBox="1"/>
          <p:nvPr>
            <p:ph idx="1" type="body"/>
          </p:nvPr>
        </p:nvSpPr>
        <p:spPr>
          <a:xfrm>
            <a:off x="839788" y="175260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2400"/>
              <a:buNone/>
              <a:defRPr b="1" sz="24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 name="Google Shape;28;p11"/>
          <p:cNvSpPr txBox="1"/>
          <p:nvPr>
            <p:ph idx="2" type="body"/>
          </p:nvPr>
        </p:nvSpPr>
        <p:spPr>
          <a:xfrm>
            <a:off x="839788" y="2666999"/>
            <a:ext cx="5157787" cy="352266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1"/>
          <p:cNvSpPr txBox="1"/>
          <p:nvPr>
            <p:ph idx="3" type="body"/>
          </p:nvPr>
        </p:nvSpPr>
        <p:spPr>
          <a:xfrm>
            <a:off x="6172200" y="175260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2400"/>
              <a:buNone/>
              <a:defRPr b="1" sz="24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 name="Google Shape;30;p11"/>
          <p:cNvSpPr txBox="1"/>
          <p:nvPr>
            <p:ph idx="4" type="body"/>
          </p:nvPr>
        </p:nvSpPr>
        <p:spPr>
          <a:xfrm>
            <a:off x="6172200" y="2666999"/>
            <a:ext cx="5183188" cy="352266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1"/>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400"/>
              <a:buNone/>
              <a:defRPr sz="2400">
                <a:solidFill>
                  <a:schemeClr val="lt1"/>
                </a:solidFill>
              </a:defRPr>
            </a:lvl1pPr>
            <a:lvl2pPr indent="-228600" lvl="1" marL="914400" algn="l">
              <a:lnSpc>
                <a:spcPct val="110000"/>
              </a:lnSpc>
              <a:spcBef>
                <a:spcPts val="500"/>
              </a:spcBef>
              <a:spcAft>
                <a:spcPts val="0"/>
              </a:spcAft>
              <a:buSzPts val="2000"/>
              <a:buNone/>
              <a:defRPr sz="2000">
                <a:solidFill>
                  <a:srgbClr val="888888"/>
                </a:solidFill>
              </a:defRPr>
            </a:lvl2pPr>
            <a:lvl3pPr indent="-228600" lvl="2" marL="1371600" algn="l">
              <a:lnSpc>
                <a:spcPct val="110000"/>
              </a:lnSpc>
              <a:spcBef>
                <a:spcPts val="500"/>
              </a:spcBef>
              <a:spcAft>
                <a:spcPts val="0"/>
              </a:spcAft>
              <a:buSzPts val="1800"/>
              <a:buNone/>
              <a:defRPr sz="1800">
                <a:solidFill>
                  <a:srgbClr val="888888"/>
                </a:solidFill>
              </a:defRPr>
            </a:lvl3pPr>
            <a:lvl4pPr indent="-228600" lvl="3" marL="1828800" algn="l">
              <a:lnSpc>
                <a:spcPct val="110000"/>
              </a:lnSpc>
              <a:spcBef>
                <a:spcPts val="500"/>
              </a:spcBef>
              <a:spcAft>
                <a:spcPts val="0"/>
              </a:spcAft>
              <a:buSzPts val="1600"/>
              <a:buNone/>
              <a:defRPr sz="1600">
                <a:solidFill>
                  <a:srgbClr val="888888"/>
                </a:solidFill>
              </a:defRPr>
            </a:lvl4pPr>
            <a:lvl5pPr indent="-228600" lvl="4" marL="2286000" algn="l">
              <a:lnSpc>
                <a:spcPct val="11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2"/>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13"/>
          <p:cNvSpPr txBox="1"/>
          <p:nvPr>
            <p:ph type="title"/>
          </p:nvPr>
        </p:nvSpPr>
        <p:spPr>
          <a:xfrm>
            <a:off x="838200" y="365760"/>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3"/>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4"/>
          <p:cNvSpPr txBox="1"/>
          <p:nvPr>
            <p:ph type="title"/>
          </p:nvPr>
        </p:nvSpPr>
        <p:spPr>
          <a:xfrm>
            <a:off x="838200" y="365760"/>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4"/>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4"/>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5"/>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5"/>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5"/>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110000"/>
              </a:lnSpc>
              <a:spcBef>
                <a:spcPts val="1000"/>
              </a:spcBef>
              <a:spcAft>
                <a:spcPts val="0"/>
              </a:spcAft>
              <a:buSzPts val="3200"/>
              <a:buChar char="•"/>
              <a:defRPr sz="3200"/>
            </a:lvl1pPr>
            <a:lvl2pPr indent="-406400" lvl="1" marL="914400" algn="l">
              <a:lnSpc>
                <a:spcPct val="110000"/>
              </a:lnSpc>
              <a:spcBef>
                <a:spcPts val="500"/>
              </a:spcBef>
              <a:spcAft>
                <a:spcPts val="0"/>
              </a:spcAft>
              <a:buSzPts val="2800"/>
              <a:buChar char="•"/>
              <a:defRPr sz="2800"/>
            </a:lvl2pPr>
            <a:lvl3pPr indent="-381000" lvl="2" marL="1371600" algn="l">
              <a:lnSpc>
                <a:spcPct val="110000"/>
              </a:lnSpc>
              <a:spcBef>
                <a:spcPts val="500"/>
              </a:spcBef>
              <a:spcAft>
                <a:spcPts val="0"/>
              </a:spcAft>
              <a:buSzPts val="2400"/>
              <a:buChar char="•"/>
              <a:defRPr sz="2400"/>
            </a:lvl3pPr>
            <a:lvl4pPr indent="-355600" lvl="3" marL="1828800" algn="l">
              <a:lnSpc>
                <a:spcPct val="110000"/>
              </a:lnSpc>
              <a:spcBef>
                <a:spcPts val="500"/>
              </a:spcBef>
              <a:spcAft>
                <a:spcPts val="0"/>
              </a:spcAft>
              <a:buSzPts val="2000"/>
              <a:buChar char="•"/>
              <a:defRPr sz="2000"/>
            </a:lvl4pPr>
            <a:lvl5pPr indent="-355600" lvl="4" marL="2286000" algn="l">
              <a:lnSpc>
                <a:spcPct val="110000"/>
              </a:lnSpc>
              <a:spcBef>
                <a:spcPts val="5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600"/>
              <a:buNone/>
              <a:defRPr sz="16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16"/>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6"/>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6"/>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p:nvPr>
            <p:ph idx="2" type="pic"/>
          </p:nvPr>
        </p:nvSpPr>
        <p:spPr>
          <a:xfrm>
            <a:off x="5183188" y="987425"/>
            <a:ext cx="6172200" cy="4873625"/>
          </a:xfrm>
          <a:prstGeom prst="rect">
            <a:avLst/>
          </a:prstGeom>
          <a:noFill/>
          <a:ln>
            <a:noFill/>
          </a:ln>
        </p:spPr>
      </p:sp>
      <p:sp>
        <p:nvSpPr>
          <p:cNvPr id="66" name="Google Shape;66;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600"/>
              <a:buNone/>
              <a:defRPr sz="16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7"/>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7"/>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7"/>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8"/>
          <p:cNvSpPr txBox="1"/>
          <p:nvPr>
            <p:ph type="title"/>
          </p:nvPr>
        </p:nvSpPr>
        <p:spPr>
          <a:xfrm>
            <a:off x="838200" y="425450"/>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 type="body"/>
          </p:nvPr>
        </p:nvSpPr>
        <p:spPr>
          <a:xfrm rot="5400000">
            <a:off x="3998119" y="-1210468"/>
            <a:ext cx="4195763"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8"/>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8"/>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8"/>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9"/>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9"/>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9"/>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p:nvPr/>
        </p:nvSpPr>
        <p:spPr>
          <a:xfrm>
            <a:off x="0" y="1"/>
            <a:ext cx="12192000" cy="6858004"/>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pic>
        <p:nvPicPr>
          <p:cNvPr id="7" name="Google Shape;7;p8"/>
          <p:cNvPicPr preferRelativeResize="0"/>
          <p:nvPr/>
        </p:nvPicPr>
        <p:blipFill rotWithShape="1">
          <a:blip r:embed="rId1">
            <a:alphaModFix amt="35000"/>
          </a:blip>
          <a:srcRect b="0" l="0" r="0" t="0"/>
          <a:stretch/>
        </p:blipFill>
        <p:spPr>
          <a:xfrm>
            <a:off x="0" y="1"/>
            <a:ext cx="12192000" cy="1392401"/>
          </a:xfrm>
          <a:prstGeom prst="rect">
            <a:avLst/>
          </a:prstGeom>
          <a:noFill/>
          <a:ln>
            <a:noFill/>
          </a:ln>
        </p:spPr>
      </p:pic>
      <p:sp>
        <p:nvSpPr>
          <p:cNvPr id="8" name="Google Shape;8;p8"/>
          <p:cNvSpPr txBox="1"/>
          <p:nvPr>
            <p:ph type="title"/>
          </p:nvPr>
        </p:nvSpPr>
        <p:spPr>
          <a:xfrm>
            <a:off x="838200" y="425450"/>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venir"/>
              <a:buNone/>
              <a:defRPr b="1" i="0" sz="4400" u="none" cap="none" strike="noStrik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8"/>
          <p:cNvSpPr txBox="1"/>
          <p:nvPr>
            <p:ph idx="1" type="body"/>
          </p:nvPr>
        </p:nvSpPr>
        <p:spPr>
          <a:xfrm>
            <a:off x="838200" y="1949450"/>
            <a:ext cx="10515600" cy="41957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10000"/>
              </a:lnSpc>
              <a:spcBef>
                <a:spcPts val="1000"/>
              </a:spcBef>
              <a:spcAft>
                <a:spcPts val="0"/>
              </a:spcAft>
              <a:buClr>
                <a:schemeClr val="accent1"/>
              </a:buClr>
              <a:buSzPts val="2800"/>
              <a:buFont typeface="Arial"/>
              <a:buChar char="•"/>
              <a:defRPr b="0" i="0" sz="2800" u="none" cap="none" strike="noStrike">
                <a:solidFill>
                  <a:schemeClr val="lt1"/>
                </a:solidFill>
                <a:latin typeface="Avenir"/>
                <a:ea typeface="Avenir"/>
                <a:cs typeface="Avenir"/>
                <a:sym typeface="Avenir"/>
              </a:defRPr>
            </a:lvl1pPr>
            <a:lvl2pPr indent="-381000" lvl="1" marL="914400" marR="0" rtl="0" algn="l">
              <a:lnSpc>
                <a:spcPct val="110000"/>
              </a:lnSpc>
              <a:spcBef>
                <a:spcPts val="500"/>
              </a:spcBef>
              <a:spcAft>
                <a:spcPts val="0"/>
              </a:spcAft>
              <a:buClr>
                <a:schemeClr val="accent1"/>
              </a:buClr>
              <a:buSzPts val="2400"/>
              <a:buFont typeface="Arial"/>
              <a:buChar char="•"/>
              <a:defRPr b="0" i="0" sz="2400" u="none" cap="none" strike="noStrike">
                <a:solidFill>
                  <a:schemeClr val="lt1"/>
                </a:solidFill>
                <a:latin typeface="Avenir"/>
                <a:ea typeface="Avenir"/>
                <a:cs typeface="Avenir"/>
                <a:sym typeface="Avenir"/>
              </a:defRPr>
            </a:lvl2pPr>
            <a:lvl3pPr indent="-355600" lvl="2" marL="1371600" marR="0" rtl="0" algn="l">
              <a:lnSpc>
                <a:spcPct val="110000"/>
              </a:lnSpc>
              <a:spcBef>
                <a:spcPts val="500"/>
              </a:spcBef>
              <a:spcAft>
                <a:spcPts val="0"/>
              </a:spcAft>
              <a:buClr>
                <a:schemeClr val="accent1"/>
              </a:buClr>
              <a:buSzPts val="2000"/>
              <a:buFont typeface="Arial"/>
              <a:buChar char="•"/>
              <a:defRPr b="0" i="0" sz="2000" u="none" cap="none" strike="noStrike">
                <a:solidFill>
                  <a:schemeClr val="lt1"/>
                </a:solidFill>
                <a:latin typeface="Avenir"/>
                <a:ea typeface="Avenir"/>
                <a:cs typeface="Avenir"/>
                <a:sym typeface="Avenir"/>
              </a:defRPr>
            </a:lvl3pPr>
            <a:lvl4pPr indent="-342900" lvl="3" marL="1828800" marR="0" rtl="0" algn="l">
              <a:lnSpc>
                <a:spcPct val="110000"/>
              </a:lnSpc>
              <a:spcBef>
                <a:spcPts val="500"/>
              </a:spcBef>
              <a:spcAft>
                <a:spcPts val="0"/>
              </a:spcAft>
              <a:buClr>
                <a:schemeClr val="accent1"/>
              </a:buClr>
              <a:buSzPts val="1800"/>
              <a:buFont typeface="Arial"/>
              <a:buChar char="•"/>
              <a:defRPr b="0" i="0" sz="1800" u="none" cap="none" strike="noStrike">
                <a:solidFill>
                  <a:schemeClr val="lt1"/>
                </a:solidFill>
                <a:latin typeface="Avenir"/>
                <a:ea typeface="Avenir"/>
                <a:cs typeface="Avenir"/>
                <a:sym typeface="Avenir"/>
              </a:defRPr>
            </a:lvl4pPr>
            <a:lvl5pPr indent="-342900" lvl="4" marL="2286000" marR="0" rtl="0" algn="l">
              <a:lnSpc>
                <a:spcPct val="110000"/>
              </a:lnSpc>
              <a:spcBef>
                <a:spcPts val="500"/>
              </a:spcBef>
              <a:spcAft>
                <a:spcPts val="0"/>
              </a:spcAft>
              <a:buClr>
                <a:schemeClr val="accent1"/>
              </a:buClr>
              <a:buSzPts val="1800"/>
              <a:buFont typeface="Arial"/>
              <a:buChar char="•"/>
              <a:defRPr b="0" i="0" sz="1800" u="none" cap="none" strike="noStrike">
                <a:solidFill>
                  <a:schemeClr val="lt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0" name="Google Shape;10;p8"/>
          <p:cNvSpPr txBox="1"/>
          <p:nvPr>
            <p:ph idx="10" type="dt"/>
          </p:nvPr>
        </p:nvSpPr>
        <p:spPr>
          <a:xfrm>
            <a:off x="838200" y="632460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lt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1" name="Google Shape;11;p8"/>
          <p:cNvSpPr txBox="1"/>
          <p:nvPr>
            <p:ph idx="11" type="ftr"/>
          </p:nvPr>
        </p:nvSpPr>
        <p:spPr>
          <a:xfrm>
            <a:off x="4038600" y="632460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chemeClr val="lt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2" name="Google Shape;12;p8"/>
          <p:cNvSpPr txBox="1"/>
          <p:nvPr>
            <p:ph idx="12" type="sldNum"/>
          </p:nvPr>
        </p:nvSpPr>
        <p:spPr>
          <a:xfrm>
            <a:off x="8610600" y="63246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lt1"/>
                </a:solidFill>
                <a:latin typeface="Avenir"/>
                <a:ea typeface="Avenir"/>
                <a:cs typeface="Avenir"/>
                <a:sym typeface="Avenir"/>
              </a:defRPr>
            </a:lvl1pPr>
            <a:lvl2pPr indent="0" lvl="1" marL="0" marR="0" rtl="0" algn="r">
              <a:spcBef>
                <a:spcPts val="0"/>
              </a:spcBef>
              <a:buNone/>
              <a:defRPr b="0" i="0" sz="900" u="none" cap="none" strike="noStrike">
                <a:solidFill>
                  <a:schemeClr val="lt1"/>
                </a:solidFill>
                <a:latin typeface="Avenir"/>
                <a:ea typeface="Avenir"/>
                <a:cs typeface="Avenir"/>
                <a:sym typeface="Avenir"/>
              </a:defRPr>
            </a:lvl2pPr>
            <a:lvl3pPr indent="0" lvl="2" marL="0" marR="0" rtl="0" algn="r">
              <a:spcBef>
                <a:spcPts val="0"/>
              </a:spcBef>
              <a:buNone/>
              <a:defRPr b="0" i="0" sz="900" u="none" cap="none" strike="noStrike">
                <a:solidFill>
                  <a:schemeClr val="lt1"/>
                </a:solidFill>
                <a:latin typeface="Avenir"/>
                <a:ea typeface="Avenir"/>
                <a:cs typeface="Avenir"/>
                <a:sym typeface="Avenir"/>
              </a:defRPr>
            </a:lvl3pPr>
            <a:lvl4pPr indent="0" lvl="3" marL="0" marR="0" rtl="0" algn="r">
              <a:spcBef>
                <a:spcPts val="0"/>
              </a:spcBef>
              <a:buNone/>
              <a:defRPr b="0" i="0" sz="900" u="none" cap="none" strike="noStrike">
                <a:solidFill>
                  <a:schemeClr val="lt1"/>
                </a:solidFill>
                <a:latin typeface="Avenir"/>
                <a:ea typeface="Avenir"/>
                <a:cs typeface="Avenir"/>
                <a:sym typeface="Avenir"/>
              </a:defRPr>
            </a:lvl4pPr>
            <a:lvl5pPr indent="0" lvl="4" marL="0" marR="0" rtl="0" algn="r">
              <a:spcBef>
                <a:spcPts val="0"/>
              </a:spcBef>
              <a:buNone/>
              <a:defRPr b="0" i="0" sz="900" u="none" cap="none" strike="noStrike">
                <a:solidFill>
                  <a:schemeClr val="lt1"/>
                </a:solidFill>
                <a:latin typeface="Avenir"/>
                <a:ea typeface="Avenir"/>
                <a:cs typeface="Avenir"/>
                <a:sym typeface="Avenir"/>
              </a:defRPr>
            </a:lvl5pPr>
            <a:lvl6pPr indent="0" lvl="5" marL="0" marR="0" rtl="0" algn="r">
              <a:spcBef>
                <a:spcPts val="0"/>
              </a:spcBef>
              <a:buNone/>
              <a:defRPr b="0" i="0" sz="900" u="none" cap="none" strike="noStrike">
                <a:solidFill>
                  <a:schemeClr val="lt1"/>
                </a:solidFill>
                <a:latin typeface="Avenir"/>
                <a:ea typeface="Avenir"/>
                <a:cs typeface="Avenir"/>
                <a:sym typeface="Avenir"/>
              </a:defRPr>
            </a:lvl6pPr>
            <a:lvl7pPr indent="0" lvl="6" marL="0" marR="0" rtl="0" algn="r">
              <a:spcBef>
                <a:spcPts val="0"/>
              </a:spcBef>
              <a:buNone/>
              <a:defRPr b="0" i="0" sz="900" u="none" cap="none" strike="noStrike">
                <a:solidFill>
                  <a:schemeClr val="lt1"/>
                </a:solidFill>
                <a:latin typeface="Avenir"/>
                <a:ea typeface="Avenir"/>
                <a:cs typeface="Avenir"/>
                <a:sym typeface="Avenir"/>
              </a:defRPr>
            </a:lvl7pPr>
            <a:lvl8pPr indent="0" lvl="7" marL="0" marR="0" rtl="0" algn="r">
              <a:spcBef>
                <a:spcPts val="0"/>
              </a:spcBef>
              <a:buNone/>
              <a:defRPr b="0" i="0" sz="900" u="none" cap="none" strike="noStrike">
                <a:solidFill>
                  <a:schemeClr val="lt1"/>
                </a:solidFill>
                <a:latin typeface="Avenir"/>
                <a:ea typeface="Avenir"/>
                <a:cs typeface="Avenir"/>
                <a:sym typeface="Avenir"/>
              </a:defRPr>
            </a:lvl8pPr>
            <a:lvl9pPr indent="0" lvl="8" marL="0" marR="0" rtl="0" algn="r">
              <a:spcBef>
                <a:spcPts val="0"/>
              </a:spcBef>
              <a:buNone/>
              <a:defRPr b="0" i="0" sz="9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ro-RO"/>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87" name="Google Shape;87;p1"/>
          <p:cNvSpPr/>
          <p:nvPr/>
        </p:nvSpPr>
        <p:spPr>
          <a:xfrm>
            <a:off x="0" y="0"/>
            <a:ext cx="12188952" cy="68580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88" name="Google Shape;88;p1"/>
          <p:cNvSpPr/>
          <p:nvPr/>
        </p:nvSpPr>
        <p:spPr>
          <a:xfrm rot="10800000">
            <a:off x="-1" y="0"/>
            <a:ext cx="12188951" cy="6858000"/>
          </a:xfrm>
          <a:prstGeom prst="rect">
            <a:avLst/>
          </a:prstGeom>
          <a:blipFill rotWithShape="1">
            <a:blip r:embed="rId3">
              <a:alphaModFix amt="30000"/>
            </a:blip>
            <a:tile algn="t" flip="xy" tx="88900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pic>
        <p:nvPicPr>
          <p:cNvPr descr="Neon 3D circle art" id="89" name="Google Shape;89;p1"/>
          <p:cNvPicPr preferRelativeResize="0"/>
          <p:nvPr/>
        </p:nvPicPr>
        <p:blipFill rotWithShape="1">
          <a:blip r:embed="rId4">
            <a:alphaModFix amt="70000"/>
          </a:blip>
          <a:srcRect b="5" l="0" r="6" t="21252"/>
          <a:stretch/>
        </p:blipFill>
        <p:spPr>
          <a:xfrm>
            <a:off x="20" y="10"/>
            <a:ext cx="12188932" cy="6856614"/>
          </a:xfrm>
          <a:prstGeom prst="rect">
            <a:avLst/>
          </a:prstGeom>
          <a:noFill/>
          <a:ln>
            <a:noFill/>
          </a:ln>
        </p:spPr>
      </p:pic>
      <p:sp>
        <p:nvSpPr>
          <p:cNvPr id="90" name="Google Shape;90;p1"/>
          <p:cNvSpPr txBox="1"/>
          <p:nvPr>
            <p:ph type="ctrTitle"/>
          </p:nvPr>
        </p:nvSpPr>
        <p:spPr>
          <a:xfrm>
            <a:off x="1657709" y="797720"/>
            <a:ext cx="8882156" cy="3163864"/>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5200"/>
              <a:buFont typeface="Avenir"/>
              <a:buNone/>
            </a:pPr>
            <a:r>
              <a:rPr b="0" lang="ro-RO" sz="5200"/>
              <a:t>Concurenta in era digitala: Studiu de caz Airbnb si Uber</a:t>
            </a:r>
            <a:endParaRPr/>
          </a:p>
        </p:txBody>
      </p:sp>
      <p:sp>
        <p:nvSpPr>
          <p:cNvPr id="91" name="Google Shape;91;p1"/>
          <p:cNvSpPr txBox="1"/>
          <p:nvPr>
            <p:ph idx="1" type="subTitle"/>
          </p:nvPr>
        </p:nvSpPr>
        <p:spPr>
          <a:xfrm>
            <a:off x="3627408" y="4951534"/>
            <a:ext cx="8402642" cy="199799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r">
              <a:lnSpc>
                <a:spcPct val="110000"/>
              </a:lnSpc>
              <a:spcBef>
                <a:spcPts val="0"/>
              </a:spcBef>
              <a:spcAft>
                <a:spcPts val="0"/>
              </a:spcAft>
              <a:buSzPct val="100000"/>
              <a:buNone/>
            </a:pPr>
            <a:r>
              <a:rPr lang="ro-RO" sz="2200">
                <a:solidFill>
                  <a:srgbClr val="FFFFFF"/>
                </a:solidFill>
              </a:rPr>
              <a:t>Anghel Andrei</a:t>
            </a:r>
            <a:endParaRPr/>
          </a:p>
          <a:p>
            <a:pPr indent="0" lvl="0" marL="0" rtl="0" algn="r">
              <a:lnSpc>
                <a:spcPct val="110000"/>
              </a:lnSpc>
              <a:spcBef>
                <a:spcPts val="1000"/>
              </a:spcBef>
              <a:spcAft>
                <a:spcPts val="0"/>
              </a:spcAft>
              <a:buSzPct val="100000"/>
              <a:buNone/>
            </a:pPr>
            <a:r>
              <a:rPr lang="ro-RO" sz="2200"/>
              <a:t>Barbuta Cristian</a:t>
            </a:r>
            <a:endParaRPr/>
          </a:p>
          <a:p>
            <a:pPr indent="0" lvl="0" marL="0" rtl="0" algn="r">
              <a:lnSpc>
                <a:spcPct val="110000"/>
              </a:lnSpc>
              <a:spcBef>
                <a:spcPts val="1000"/>
              </a:spcBef>
              <a:spcAft>
                <a:spcPts val="0"/>
              </a:spcAft>
              <a:buSzPct val="100000"/>
              <a:buNone/>
            </a:pPr>
            <a:r>
              <a:rPr lang="ro-RO" sz="2200"/>
              <a:t>Florea Daria</a:t>
            </a:r>
            <a:endParaRPr/>
          </a:p>
          <a:p>
            <a:pPr indent="0" lvl="0" marL="0" rtl="0" algn="r">
              <a:lnSpc>
                <a:spcPct val="110000"/>
              </a:lnSpc>
              <a:spcBef>
                <a:spcPts val="1000"/>
              </a:spcBef>
              <a:spcAft>
                <a:spcPts val="0"/>
              </a:spcAft>
              <a:buSzPct val="100000"/>
              <a:buNone/>
            </a:pPr>
            <a:r>
              <a:rPr lang="ro-RO" sz="2200"/>
              <a:t>331CC</a:t>
            </a:r>
            <a:br>
              <a:rPr lang="ro-RO" sz="2200">
                <a:solidFill>
                  <a:srgbClr val="FFFFFF"/>
                </a:solidFill>
              </a:rPr>
            </a:br>
            <a:endParaRPr sz="22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97" name="Google Shape;97;p2"/>
          <p:cNvSpPr/>
          <p:nvPr/>
        </p:nvSpPr>
        <p:spPr>
          <a:xfrm>
            <a:off x="3048" y="0"/>
            <a:ext cx="12188952" cy="6858000"/>
          </a:xfrm>
          <a:prstGeom prst="rect">
            <a:avLst/>
          </a:prstGeom>
          <a:solidFill>
            <a:schemeClr val="l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98" name="Google Shape;98;p2"/>
          <p:cNvSpPr txBox="1"/>
          <p:nvPr>
            <p:ph type="ctrTitle"/>
          </p:nvPr>
        </p:nvSpPr>
        <p:spPr>
          <a:xfrm>
            <a:off x="838200" y="744909"/>
            <a:ext cx="4785546" cy="315541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4400"/>
              <a:buFont typeface="Avenir"/>
              <a:buNone/>
            </a:pPr>
            <a:r>
              <a:rPr lang="ro-RO">
                <a:solidFill>
                  <a:schemeClr val="dk2"/>
                </a:solidFill>
              </a:rPr>
              <a:t>Ce au in comun cele 2 companii?</a:t>
            </a:r>
            <a:endParaRPr>
              <a:solidFill>
                <a:schemeClr val="dk2"/>
              </a:solidFill>
            </a:endParaRPr>
          </a:p>
        </p:txBody>
      </p:sp>
      <p:sp>
        <p:nvSpPr>
          <p:cNvPr id="99" name="Google Shape;99;p2"/>
          <p:cNvSpPr txBox="1"/>
          <p:nvPr>
            <p:ph idx="1" type="subTitle"/>
          </p:nvPr>
        </p:nvSpPr>
        <p:spPr>
          <a:xfrm>
            <a:off x="838200" y="4074784"/>
            <a:ext cx="4785545" cy="2054306"/>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200"/>
              <a:buNone/>
            </a:pPr>
            <a:r>
              <a:t/>
            </a:r>
            <a:endParaRPr sz="2200">
              <a:solidFill>
                <a:schemeClr val="dk2"/>
              </a:solidFill>
            </a:endParaRPr>
          </a:p>
          <a:p>
            <a:pPr indent="0" lvl="0" marL="0" rtl="0" algn="l">
              <a:lnSpc>
                <a:spcPct val="110000"/>
              </a:lnSpc>
              <a:spcBef>
                <a:spcPts val="0"/>
              </a:spcBef>
              <a:spcAft>
                <a:spcPts val="0"/>
              </a:spcAft>
              <a:buSzPts val="2200"/>
              <a:buNone/>
            </a:pPr>
            <a:r>
              <a:t/>
            </a:r>
            <a:endParaRPr sz="2200">
              <a:solidFill>
                <a:schemeClr val="dk2"/>
              </a:solidFill>
            </a:endParaRPr>
          </a:p>
          <a:p>
            <a:pPr indent="0" lvl="0" marL="0" rtl="0" algn="l">
              <a:lnSpc>
                <a:spcPct val="110000"/>
              </a:lnSpc>
              <a:spcBef>
                <a:spcPts val="0"/>
              </a:spcBef>
              <a:spcAft>
                <a:spcPts val="0"/>
              </a:spcAft>
              <a:buSzPts val="2200"/>
              <a:buNone/>
            </a:pPr>
            <a:r>
              <a:rPr lang="ro-RO" sz="2900">
                <a:solidFill>
                  <a:schemeClr val="dk2"/>
                </a:solidFill>
              </a:rPr>
              <a:t>Economia Peer-to-Peer </a:t>
            </a:r>
            <a:endParaRPr sz="2700"/>
          </a:p>
          <a:p>
            <a:pPr indent="0" lvl="0" marL="0" rtl="0" algn="l">
              <a:lnSpc>
                <a:spcPct val="110000"/>
              </a:lnSpc>
              <a:spcBef>
                <a:spcPts val="1000"/>
              </a:spcBef>
              <a:spcAft>
                <a:spcPts val="0"/>
              </a:spcAft>
              <a:buSzPts val="2200"/>
              <a:buNone/>
            </a:pPr>
            <a:r>
              <a:t/>
            </a:r>
            <a:endParaRPr/>
          </a:p>
        </p:txBody>
      </p:sp>
      <p:sp>
        <p:nvSpPr>
          <p:cNvPr id="100" name="Google Shape;100;p2"/>
          <p:cNvSpPr/>
          <p:nvPr/>
        </p:nvSpPr>
        <p:spPr>
          <a:xfrm>
            <a:off x="5998283" y="0"/>
            <a:ext cx="6193717" cy="6858000"/>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01" name="Google Shape;101;p2"/>
          <p:cNvSpPr/>
          <p:nvPr/>
        </p:nvSpPr>
        <p:spPr>
          <a:xfrm rot="10800000">
            <a:off x="5998281" y="-3"/>
            <a:ext cx="6193718" cy="6857999"/>
          </a:xfrm>
          <a:prstGeom prst="rect">
            <a:avLst/>
          </a:prstGeom>
          <a:blipFill rotWithShape="1">
            <a:blip r:embed="rId3">
              <a:alphaModFix amt="35000"/>
            </a:blip>
            <a:tile algn="t" flip="xy" tx="88900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pic>
        <p:nvPicPr>
          <p:cNvPr id="102" name="Google Shape;102;p2"/>
          <p:cNvPicPr preferRelativeResize="0"/>
          <p:nvPr/>
        </p:nvPicPr>
        <p:blipFill rotWithShape="1">
          <a:blip r:embed="rId4">
            <a:alphaModFix/>
          </a:blip>
          <a:srcRect b="0" l="0" r="0" t="0"/>
          <a:stretch/>
        </p:blipFill>
        <p:spPr>
          <a:xfrm>
            <a:off x="6732218" y="923793"/>
            <a:ext cx="4817466" cy="50051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3"/>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08" name="Google Shape;108;p3"/>
          <p:cNvSpPr/>
          <p:nvPr/>
        </p:nvSpPr>
        <p:spPr>
          <a:xfrm>
            <a:off x="3048" y="0"/>
            <a:ext cx="12188952" cy="6858000"/>
          </a:xfrm>
          <a:prstGeom prst="rect">
            <a:avLst/>
          </a:prstGeom>
          <a:solidFill>
            <a:schemeClr val="l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09" name="Google Shape;109;p3"/>
          <p:cNvSpPr/>
          <p:nvPr/>
        </p:nvSpPr>
        <p:spPr>
          <a:xfrm>
            <a:off x="0" y="0"/>
            <a:ext cx="5998281" cy="6858000"/>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0" name="Google Shape;110;p3"/>
          <p:cNvSpPr/>
          <p:nvPr/>
        </p:nvSpPr>
        <p:spPr>
          <a:xfrm>
            <a:off x="0" y="0"/>
            <a:ext cx="5998281" cy="6858000"/>
          </a:xfrm>
          <a:prstGeom prst="rect">
            <a:avLst/>
          </a:prstGeom>
          <a:blipFill rotWithShape="1">
            <a:blip r:embed="rId3">
              <a:alphaModFix amt="20000"/>
            </a:blip>
            <a:tile algn="tl" flip="none" tx="88900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1" name="Google Shape;111;p3"/>
          <p:cNvSpPr txBox="1"/>
          <p:nvPr>
            <p:ph type="title"/>
          </p:nvPr>
        </p:nvSpPr>
        <p:spPr>
          <a:xfrm>
            <a:off x="838201" y="559813"/>
            <a:ext cx="4876800" cy="5577934"/>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4400"/>
              <a:buFont typeface="Avenir"/>
              <a:buNone/>
            </a:pPr>
            <a:r>
              <a:rPr lang="ro-RO"/>
              <a:t>Cum afectează economia colaborativa piața?</a:t>
            </a:r>
            <a:endParaRPr/>
          </a:p>
        </p:txBody>
      </p:sp>
      <p:grpSp>
        <p:nvGrpSpPr>
          <p:cNvPr id="112" name="Google Shape;112;p3"/>
          <p:cNvGrpSpPr/>
          <p:nvPr/>
        </p:nvGrpSpPr>
        <p:grpSpPr>
          <a:xfrm>
            <a:off x="6184458" y="389957"/>
            <a:ext cx="5626542" cy="5692608"/>
            <a:chOff x="0" y="46524"/>
            <a:chExt cx="5626542" cy="5692608"/>
          </a:xfrm>
        </p:grpSpPr>
        <p:sp>
          <p:nvSpPr>
            <p:cNvPr id="113" name="Google Shape;113;p3"/>
            <p:cNvSpPr/>
            <p:nvPr/>
          </p:nvSpPr>
          <p:spPr>
            <a:xfrm>
              <a:off x="0" y="46524"/>
              <a:ext cx="5626542" cy="1092441"/>
            </a:xfrm>
            <a:prstGeom prst="roundRect">
              <a:avLst>
                <a:gd fmla="val 16667" name="adj"/>
              </a:avLst>
            </a:prstGeom>
            <a:solidFill>
              <a:srgbClr val="D514AD"/>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txBox="1"/>
            <p:nvPr/>
          </p:nvSpPr>
          <p:spPr>
            <a:xfrm>
              <a:off x="53329" y="99853"/>
              <a:ext cx="5519884" cy="985783"/>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Apare competi</a:t>
              </a:r>
              <a:r>
                <a:rPr lang="ro-RO" sz="2000">
                  <a:solidFill>
                    <a:schemeClr val="lt1"/>
                  </a:solidFill>
                  <a:latin typeface="Avenir"/>
                  <a:ea typeface="Avenir"/>
                  <a:cs typeface="Avenir"/>
                  <a:sym typeface="Avenir"/>
                </a:rPr>
                <a:t>ț</a:t>
              </a:r>
              <a:r>
                <a:rPr b="0" i="0" lang="ro-RO" sz="2000" u="none" cap="none" strike="noStrike">
                  <a:solidFill>
                    <a:schemeClr val="lt1"/>
                  </a:solidFill>
                  <a:latin typeface="Avenir"/>
                  <a:ea typeface="Avenir"/>
                  <a:cs typeface="Avenir"/>
                  <a:sym typeface="Avenir"/>
                </a:rPr>
                <a:t>ia neloial</a:t>
              </a:r>
              <a:r>
                <a:rPr lang="ro-RO" sz="2000">
                  <a:solidFill>
                    <a:schemeClr val="lt1"/>
                  </a:solidFill>
                  <a:latin typeface="Avenir"/>
                  <a:ea typeface="Avenir"/>
                  <a:cs typeface="Avenir"/>
                  <a:sym typeface="Avenir"/>
                </a:rPr>
                <a:t>ă</a:t>
              </a:r>
              <a:endParaRPr b="0" i="0" sz="2000" u="none" cap="none" strike="noStrike">
                <a:solidFill>
                  <a:schemeClr val="lt1"/>
                </a:solidFill>
                <a:latin typeface="Avenir"/>
                <a:ea typeface="Avenir"/>
                <a:cs typeface="Avenir"/>
                <a:sym typeface="Avenir"/>
              </a:endParaRPr>
            </a:p>
          </p:txBody>
        </p:sp>
        <p:sp>
          <p:nvSpPr>
            <p:cNvPr id="115" name="Google Shape;115;p3"/>
            <p:cNvSpPr/>
            <p:nvPr/>
          </p:nvSpPr>
          <p:spPr>
            <a:xfrm>
              <a:off x="0" y="1196566"/>
              <a:ext cx="5626542" cy="1092441"/>
            </a:xfrm>
            <a:prstGeom prst="roundRect">
              <a:avLst>
                <a:gd fmla="val 16667" name="adj"/>
              </a:avLst>
            </a:prstGeom>
            <a:solidFill>
              <a:srgbClr val="BD27E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txBox="1"/>
            <p:nvPr/>
          </p:nvSpPr>
          <p:spPr>
            <a:xfrm>
              <a:off x="53329" y="1249895"/>
              <a:ext cx="5519884" cy="985783"/>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Sunt favorizate persoanele care nu sunt specializate </a:t>
              </a:r>
              <a:r>
                <a:rPr lang="ro-RO" sz="2000">
                  <a:solidFill>
                    <a:schemeClr val="lt1"/>
                  </a:solidFill>
                  <a:latin typeface="Avenir"/>
                  <a:ea typeface="Avenir"/>
                  <a:cs typeface="Avenir"/>
                  <a:sym typeface="Avenir"/>
                </a:rPr>
                <a:t>î</a:t>
              </a:r>
              <a:r>
                <a:rPr b="0" i="0" lang="ro-RO" sz="2000" u="none" cap="none" strike="noStrike">
                  <a:solidFill>
                    <a:schemeClr val="lt1"/>
                  </a:solidFill>
                  <a:latin typeface="Avenir"/>
                  <a:ea typeface="Avenir"/>
                  <a:cs typeface="Avenir"/>
                  <a:sym typeface="Avenir"/>
                </a:rPr>
                <a:t>n domeniu</a:t>
              </a:r>
              <a:endParaRPr b="0" i="0" sz="2000" u="none" cap="none" strike="noStrike">
                <a:solidFill>
                  <a:schemeClr val="lt1"/>
                </a:solidFill>
                <a:latin typeface="Avenir"/>
                <a:ea typeface="Avenir"/>
                <a:cs typeface="Avenir"/>
                <a:sym typeface="Avenir"/>
              </a:endParaRPr>
            </a:p>
          </p:txBody>
        </p:sp>
        <p:sp>
          <p:nvSpPr>
            <p:cNvPr id="117" name="Google Shape;117;p3"/>
            <p:cNvSpPr/>
            <p:nvPr/>
          </p:nvSpPr>
          <p:spPr>
            <a:xfrm>
              <a:off x="0" y="2346608"/>
              <a:ext cx="5626542" cy="1092441"/>
            </a:xfrm>
            <a:prstGeom prst="roundRect">
              <a:avLst>
                <a:gd fmla="val 16667" name="adj"/>
              </a:avLst>
            </a:prstGeom>
            <a:solidFill>
              <a:srgbClr val="5E14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53329" y="2399937"/>
              <a:ext cx="5519884" cy="985783"/>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Se bazeaz</a:t>
              </a:r>
              <a:r>
                <a:rPr lang="ro-RO" sz="2000">
                  <a:solidFill>
                    <a:schemeClr val="lt1"/>
                  </a:solidFill>
                  <a:latin typeface="Avenir"/>
                  <a:ea typeface="Avenir"/>
                  <a:cs typeface="Avenir"/>
                  <a:sym typeface="Avenir"/>
                </a:rPr>
                <a:t>ă</a:t>
              </a:r>
              <a:r>
                <a:rPr b="0" i="0" lang="ro-RO" sz="2000" u="none" cap="none" strike="noStrike">
                  <a:solidFill>
                    <a:schemeClr val="lt1"/>
                  </a:solidFill>
                  <a:latin typeface="Avenir"/>
                  <a:ea typeface="Avenir"/>
                  <a:cs typeface="Avenir"/>
                  <a:sym typeface="Avenir"/>
                </a:rPr>
                <a:t> pe conceptul de "vinde serviciul, nu produsul"</a:t>
              </a:r>
              <a:endParaRPr b="0" i="0" sz="2000" u="none" cap="none" strike="noStrike">
                <a:solidFill>
                  <a:schemeClr val="lt1"/>
                </a:solidFill>
                <a:latin typeface="Avenir"/>
                <a:ea typeface="Avenir"/>
                <a:cs typeface="Avenir"/>
                <a:sym typeface="Avenir"/>
              </a:endParaRPr>
            </a:p>
          </p:txBody>
        </p:sp>
        <p:sp>
          <p:nvSpPr>
            <p:cNvPr id="119" name="Google Shape;119;p3"/>
            <p:cNvSpPr/>
            <p:nvPr/>
          </p:nvSpPr>
          <p:spPr>
            <a:xfrm>
              <a:off x="0" y="3496649"/>
              <a:ext cx="5626542" cy="1092441"/>
            </a:xfrm>
            <a:prstGeom prst="roundRect">
              <a:avLst>
                <a:gd fmla="val 16667" name="adj"/>
              </a:avLst>
            </a:prstGeom>
            <a:solidFill>
              <a:srgbClr val="2732E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txBox="1"/>
            <p:nvPr/>
          </p:nvSpPr>
          <p:spPr>
            <a:xfrm>
              <a:off x="53329" y="3549978"/>
              <a:ext cx="5519884" cy="985783"/>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Firmele profesionale </a:t>
              </a:r>
              <a:r>
                <a:rPr lang="ro-RO" sz="2000">
                  <a:solidFill>
                    <a:schemeClr val="lt1"/>
                  </a:solidFill>
                  <a:latin typeface="Avenir"/>
                  <a:ea typeface="Avenir"/>
                  <a:cs typeface="Avenir"/>
                  <a:sym typeface="Avenir"/>
                </a:rPr>
                <a:t>ș</a:t>
              </a:r>
              <a:r>
                <a:rPr b="0" i="0" lang="ro-RO" sz="2000" u="none" cap="none" strike="noStrike">
                  <a:solidFill>
                    <a:schemeClr val="lt1"/>
                  </a:solidFill>
                  <a:latin typeface="Avenir"/>
                  <a:ea typeface="Avenir"/>
                  <a:cs typeface="Avenir"/>
                  <a:sym typeface="Avenir"/>
                </a:rPr>
                <a:t>i persoanele specializate </a:t>
              </a:r>
              <a:r>
                <a:rPr lang="ro-RO" sz="2000">
                  <a:solidFill>
                    <a:schemeClr val="lt1"/>
                  </a:solidFill>
                  <a:latin typeface="Avenir"/>
                  <a:ea typeface="Avenir"/>
                  <a:cs typeface="Avenir"/>
                  <a:sym typeface="Avenir"/>
                </a:rPr>
                <a:t>î</a:t>
              </a:r>
              <a:r>
                <a:rPr b="0" i="0" lang="ro-RO" sz="2000" u="none" cap="none" strike="noStrike">
                  <a:solidFill>
                    <a:schemeClr val="lt1"/>
                  </a:solidFill>
                  <a:latin typeface="Avenir"/>
                  <a:ea typeface="Avenir"/>
                  <a:cs typeface="Avenir"/>
                  <a:sym typeface="Avenir"/>
                </a:rPr>
                <a:t>ntr-un anumit domeniu pierd foarte mult teren</a:t>
              </a:r>
              <a:endParaRPr b="0" i="0" sz="2000" u="none" cap="none" strike="noStrike">
                <a:solidFill>
                  <a:schemeClr val="lt1"/>
                </a:solidFill>
                <a:latin typeface="Avenir"/>
                <a:ea typeface="Avenir"/>
                <a:cs typeface="Avenir"/>
                <a:sym typeface="Avenir"/>
              </a:endParaRPr>
            </a:p>
          </p:txBody>
        </p:sp>
        <p:sp>
          <p:nvSpPr>
            <p:cNvPr id="121" name="Google Shape;121;p3"/>
            <p:cNvSpPr/>
            <p:nvPr/>
          </p:nvSpPr>
          <p:spPr>
            <a:xfrm>
              <a:off x="0" y="4646691"/>
              <a:ext cx="5626542" cy="1092441"/>
            </a:xfrm>
            <a:prstGeom prst="roundRect">
              <a:avLst>
                <a:gd fmla="val 16667" name="adj"/>
              </a:avLst>
            </a:prstGeom>
            <a:solidFill>
              <a:srgbClr val="146F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53329" y="4700020"/>
              <a:ext cx="5519884" cy="985783"/>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Se ofer</a:t>
              </a:r>
              <a:r>
                <a:rPr lang="ro-RO" sz="2000">
                  <a:solidFill>
                    <a:schemeClr val="lt1"/>
                  </a:solidFill>
                  <a:latin typeface="Avenir"/>
                  <a:ea typeface="Avenir"/>
                  <a:cs typeface="Avenir"/>
                  <a:sym typeface="Avenir"/>
                </a:rPr>
                <a:t>ă</a:t>
              </a:r>
              <a:r>
                <a:rPr b="0" i="0" lang="ro-RO" sz="2000" u="none" cap="none" strike="noStrike">
                  <a:solidFill>
                    <a:schemeClr val="lt1"/>
                  </a:solidFill>
                  <a:latin typeface="Avenir"/>
                  <a:ea typeface="Avenir"/>
                  <a:cs typeface="Avenir"/>
                  <a:sym typeface="Avenir"/>
                </a:rPr>
                <a:t> o experien</a:t>
              </a:r>
              <a:r>
                <a:rPr lang="ro-RO" sz="2000">
                  <a:solidFill>
                    <a:schemeClr val="lt1"/>
                  </a:solidFill>
                  <a:latin typeface="Avenir"/>
                  <a:ea typeface="Avenir"/>
                  <a:cs typeface="Avenir"/>
                  <a:sym typeface="Avenir"/>
                </a:rPr>
                <a:t>ță</a:t>
              </a:r>
              <a:r>
                <a:rPr b="0" i="0" lang="ro-RO" sz="2000" u="none" cap="none" strike="noStrike">
                  <a:solidFill>
                    <a:schemeClr val="lt1"/>
                  </a:solidFill>
                  <a:latin typeface="Avenir"/>
                  <a:ea typeface="Avenir"/>
                  <a:cs typeface="Avenir"/>
                  <a:sym typeface="Avenir"/>
                </a:rPr>
                <a:t> mai personalizat</a:t>
              </a:r>
              <a:r>
                <a:rPr lang="ro-RO" sz="2000">
                  <a:solidFill>
                    <a:schemeClr val="lt1"/>
                  </a:solidFill>
                  <a:latin typeface="Avenir"/>
                  <a:ea typeface="Avenir"/>
                  <a:cs typeface="Avenir"/>
                  <a:sym typeface="Avenir"/>
                </a:rPr>
                <a:t>ă</a:t>
              </a:r>
              <a:r>
                <a:rPr b="0" i="0" lang="ro-RO" sz="2000" u="none" cap="none" strike="noStrike">
                  <a:solidFill>
                    <a:schemeClr val="lt1"/>
                  </a:solidFill>
                  <a:latin typeface="Avenir"/>
                  <a:ea typeface="Avenir"/>
                  <a:cs typeface="Avenir"/>
                  <a:sym typeface="Avenir"/>
                </a:rPr>
                <a:t> bazat</a:t>
              </a:r>
              <a:r>
                <a:rPr lang="ro-RO" sz="2000">
                  <a:solidFill>
                    <a:schemeClr val="lt1"/>
                  </a:solidFill>
                  <a:latin typeface="Avenir"/>
                  <a:ea typeface="Avenir"/>
                  <a:cs typeface="Avenir"/>
                  <a:sym typeface="Avenir"/>
                </a:rPr>
                <a:t>ă</a:t>
              </a:r>
              <a:r>
                <a:rPr b="0" i="0" lang="ro-RO" sz="2000" u="none" cap="none" strike="noStrike">
                  <a:solidFill>
                    <a:schemeClr val="lt1"/>
                  </a:solidFill>
                  <a:latin typeface="Avenir"/>
                  <a:ea typeface="Avenir"/>
                  <a:cs typeface="Avenir"/>
                  <a:sym typeface="Avenir"/>
                </a:rPr>
                <a:t> pe review-uri</a:t>
              </a:r>
              <a:endParaRPr b="0" i="0" sz="2000" u="none" cap="none" strike="noStrike">
                <a:solidFill>
                  <a:schemeClr val="lt1"/>
                </a:solidFill>
                <a:latin typeface="Avenir"/>
                <a:ea typeface="Avenir"/>
                <a:cs typeface="Avenir"/>
                <a:sym typeface="Aveni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839788" y="9372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400"/>
              <a:buFont typeface="Avenir"/>
              <a:buNone/>
            </a:pPr>
            <a:r>
              <a:rPr lang="ro-RO"/>
              <a:t>Oportunități și provocări</a:t>
            </a:r>
            <a:endParaRPr/>
          </a:p>
        </p:txBody>
      </p:sp>
      <p:sp>
        <p:nvSpPr>
          <p:cNvPr id="128" name="Google Shape;128;p4"/>
          <p:cNvSpPr txBox="1"/>
          <p:nvPr>
            <p:ph idx="1" type="body"/>
          </p:nvPr>
        </p:nvSpPr>
        <p:spPr>
          <a:xfrm>
            <a:off x="839788" y="1418572"/>
            <a:ext cx="5157787" cy="458570"/>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SzPts val="2400"/>
              <a:buNone/>
            </a:pPr>
            <a:r>
              <a:rPr lang="ro-RO"/>
              <a:t>Oportunități</a:t>
            </a:r>
            <a:endParaRPr/>
          </a:p>
        </p:txBody>
      </p:sp>
      <p:grpSp>
        <p:nvGrpSpPr>
          <p:cNvPr id="129" name="Google Shape;129;p4"/>
          <p:cNvGrpSpPr/>
          <p:nvPr/>
        </p:nvGrpSpPr>
        <p:grpSpPr>
          <a:xfrm>
            <a:off x="839788" y="1980535"/>
            <a:ext cx="5157787" cy="4572001"/>
            <a:chOff x="0" y="44220"/>
            <a:chExt cx="5157787" cy="4572001"/>
          </a:xfrm>
        </p:grpSpPr>
        <p:sp>
          <p:nvSpPr>
            <p:cNvPr id="130" name="Google Shape;130;p4"/>
            <p:cNvSpPr/>
            <p:nvPr/>
          </p:nvSpPr>
          <p:spPr>
            <a:xfrm>
              <a:off x="0" y="44220"/>
              <a:ext cx="5157787" cy="109980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txBox="1"/>
            <p:nvPr/>
          </p:nvSpPr>
          <p:spPr>
            <a:xfrm>
              <a:off x="53688" y="97908"/>
              <a:ext cx="5050411" cy="99242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Cazarea de pe platforme peer-to-peer poate reduce barierele de intrare pe piața antreprenoriatului</a:t>
              </a:r>
              <a:endParaRPr b="0" i="0" sz="2000" u="none" cap="none" strike="noStrike">
                <a:solidFill>
                  <a:schemeClr val="lt1"/>
                </a:solidFill>
                <a:latin typeface="Avenir"/>
                <a:ea typeface="Avenir"/>
                <a:cs typeface="Avenir"/>
                <a:sym typeface="Avenir"/>
              </a:endParaRPr>
            </a:p>
          </p:txBody>
        </p:sp>
        <p:sp>
          <p:nvSpPr>
            <p:cNvPr id="132" name="Google Shape;132;p4"/>
            <p:cNvSpPr/>
            <p:nvPr/>
          </p:nvSpPr>
          <p:spPr>
            <a:xfrm>
              <a:off x="0" y="1201620"/>
              <a:ext cx="5157787" cy="109980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txBox="1"/>
            <p:nvPr/>
          </p:nvSpPr>
          <p:spPr>
            <a:xfrm>
              <a:off x="53688" y="1255308"/>
              <a:ext cx="5050411" cy="99242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Oferirea de servicii peer-to-peer poate aduce venituri suplimentare</a:t>
              </a:r>
              <a:endParaRPr b="0" i="0" sz="2000" u="none" cap="none" strike="noStrike">
                <a:solidFill>
                  <a:schemeClr val="lt1"/>
                </a:solidFill>
                <a:latin typeface="Avenir"/>
                <a:ea typeface="Avenir"/>
                <a:cs typeface="Avenir"/>
                <a:sym typeface="Avenir"/>
              </a:endParaRPr>
            </a:p>
          </p:txBody>
        </p:sp>
        <p:sp>
          <p:nvSpPr>
            <p:cNvPr id="134" name="Google Shape;134;p4"/>
            <p:cNvSpPr/>
            <p:nvPr/>
          </p:nvSpPr>
          <p:spPr>
            <a:xfrm>
              <a:off x="0" y="2359021"/>
              <a:ext cx="5157787" cy="109980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txBox="1"/>
            <p:nvPr/>
          </p:nvSpPr>
          <p:spPr>
            <a:xfrm>
              <a:off x="53688" y="2412709"/>
              <a:ext cx="5050411" cy="99242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Cazarea P2P influențează tipul și natura achizițiilor, precum și al serviciilor vizitatorilor</a:t>
              </a:r>
              <a:endParaRPr b="0" i="0" sz="2000" u="none" cap="none" strike="noStrike">
                <a:solidFill>
                  <a:schemeClr val="lt1"/>
                </a:solidFill>
                <a:latin typeface="Avenir"/>
                <a:ea typeface="Avenir"/>
                <a:cs typeface="Avenir"/>
                <a:sym typeface="Avenir"/>
              </a:endParaRPr>
            </a:p>
          </p:txBody>
        </p:sp>
        <p:sp>
          <p:nvSpPr>
            <p:cNvPr id="136" name="Google Shape;136;p4"/>
            <p:cNvSpPr/>
            <p:nvPr/>
          </p:nvSpPr>
          <p:spPr>
            <a:xfrm>
              <a:off x="0" y="3516421"/>
              <a:ext cx="5157787" cy="109980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txBox="1"/>
            <p:nvPr/>
          </p:nvSpPr>
          <p:spPr>
            <a:xfrm>
              <a:off x="53688" y="3570109"/>
              <a:ext cx="5050411" cy="99242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venir"/>
                <a:buNone/>
              </a:pPr>
              <a:r>
                <a:rPr b="0" i="0" lang="ro-RO" sz="2000" u="none" cap="none" strike="noStrike">
                  <a:solidFill>
                    <a:schemeClr val="lt1"/>
                  </a:solidFill>
                  <a:latin typeface="Avenir"/>
                  <a:ea typeface="Avenir"/>
                  <a:cs typeface="Avenir"/>
                  <a:sym typeface="Avenir"/>
                </a:rPr>
                <a:t>Platformele de cazare peer-to-peer pot permite dispersia turiștilor într-o zonă geografică mai largă.</a:t>
              </a:r>
              <a:endParaRPr b="0" i="0" sz="2000" u="none" cap="none" strike="noStrike">
                <a:solidFill>
                  <a:schemeClr val="lt1"/>
                </a:solidFill>
                <a:latin typeface="Avenir"/>
                <a:ea typeface="Avenir"/>
                <a:cs typeface="Avenir"/>
                <a:sym typeface="Avenir"/>
              </a:endParaRPr>
            </a:p>
          </p:txBody>
        </p:sp>
      </p:grpSp>
      <p:sp>
        <p:nvSpPr>
          <p:cNvPr id="138" name="Google Shape;138;p4"/>
          <p:cNvSpPr txBox="1"/>
          <p:nvPr>
            <p:ph idx="3" type="body"/>
          </p:nvPr>
        </p:nvSpPr>
        <p:spPr>
          <a:xfrm>
            <a:off x="6172200" y="1366380"/>
            <a:ext cx="5183188" cy="510762"/>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SzPts val="2400"/>
              <a:buNone/>
            </a:pPr>
            <a:r>
              <a:rPr lang="ro-RO"/>
              <a:t>Provocări</a:t>
            </a:r>
            <a:endParaRPr/>
          </a:p>
        </p:txBody>
      </p:sp>
      <p:grpSp>
        <p:nvGrpSpPr>
          <p:cNvPr id="139" name="Google Shape;139;p4"/>
          <p:cNvGrpSpPr/>
          <p:nvPr/>
        </p:nvGrpSpPr>
        <p:grpSpPr>
          <a:xfrm>
            <a:off x="6315750" y="1982299"/>
            <a:ext cx="4907267" cy="4560121"/>
            <a:chOff x="0" y="50160"/>
            <a:chExt cx="4907267" cy="4560121"/>
          </a:xfrm>
        </p:grpSpPr>
        <p:sp>
          <p:nvSpPr>
            <p:cNvPr id="140" name="Google Shape;140;p4"/>
            <p:cNvSpPr/>
            <p:nvPr/>
          </p:nvSpPr>
          <p:spPr>
            <a:xfrm>
              <a:off x="0" y="50160"/>
              <a:ext cx="4907267" cy="87516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42722" y="92882"/>
              <a:ext cx="4821823" cy="78971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Avenir"/>
                <a:buNone/>
              </a:pPr>
              <a:r>
                <a:rPr b="0" i="0" lang="ro-RO" sz="1600" u="none" cap="none" strike="noStrike">
                  <a:solidFill>
                    <a:schemeClr val="lt1"/>
                  </a:solidFill>
                  <a:latin typeface="Avenir"/>
                  <a:ea typeface="Avenir"/>
                  <a:cs typeface="Avenir"/>
                  <a:sym typeface="Avenir"/>
                </a:rPr>
                <a:t>Cazările de pe platforme peer-to-peer sunt adesea neînregistrate și nereglementate</a:t>
              </a:r>
              <a:endParaRPr b="0" i="0" sz="1600" u="none" cap="none" strike="noStrike">
                <a:solidFill>
                  <a:schemeClr val="lt1"/>
                </a:solidFill>
                <a:latin typeface="Avenir"/>
                <a:ea typeface="Avenir"/>
                <a:cs typeface="Avenir"/>
                <a:sym typeface="Avenir"/>
              </a:endParaRPr>
            </a:p>
          </p:txBody>
        </p:sp>
        <p:sp>
          <p:nvSpPr>
            <p:cNvPr id="142" name="Google Shape;142;p4"/>
            <p:cNvSpPr/>
            <p:nvPr/>
          </p:nvSpPr>
          <p:spPr>
            <a:xfrm>
              <a:off x="0" y="971400"/>
              <a:ext cx="4907267" cy="87516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txBox="1"/>
            <p:nvPr/>
          </p:nvSpPr>
          <p:spPr>
            <a:xfrm>
              <a:off x="42722" y="1014122"/>
              <a:ext cx="4821823" cy="78971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Avenir"/>
                <a:buNone/>
              </a:pPr>
              <a:r>
                <a:rPr b="0" i="0" lang="ro-RO" sz="1600" u="none" cap="none" strike="noStrike">
                  <a:solidFill>
                    <a:schemeClr val="lt1"/>
                  </a:solidFill>
                  <a:latin typeface="Avenir"/>
                  <a:ea typeface="Avenir"/>
                  <a:cs typeface="Avenir"/>
                  <a:sym typeface="Avenir"/>
                </a:rPr>
                <a:t>Cazările de pe platforme peer-to-peer pot să nu respecte legile fiscale</a:t>
              </a:r>
              <a:endParaRPr b="0" i="0" sz="1600" u="none" cap="none" strike="noStrike">
                <a:solidFill>
                  <a:schemeClr val="lt1"/>
                </a:solidFill>
                <a:latin typeface="Avenir"/>
                <a:ea typeface="Avenir"/>
                <a:cs typeface="Avenir"/>
                <a:sym typeface="Avenir"/>
              </a:endParaRPr>
            </a:p>
          </p:txBody>
        </p:sp>
        <p:sp>
          <p:nvSpPr>
            <p:cNvPr id="144" name="Google Shape;144;p4"/>
            <p:cNvSpPr/>
            <p:nvPr/>
          </p:nvSpPr>
          <p:spPr>
            <a:xfrm>
              <a:off x="0" y="1892641"/>
              <a:ext cx="4907267" cy="87516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txBox="1"/>
            <p:nvPr/>
          </p:nvSpPr>
          <p:spPr>
            <a:xfrm>
              <a:off x="42722" y="1935363"/>
              <a:ext cx="4821823" cy="78971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Avenir"/>
                <a:buNone/>
              </a:pPr>
              <a:r>
                <a:rPr b="0" i="0" lang="ro-RO" sz="1600" u="none" cap="none" strike="noStrike">
                  <a:solidFill>
                    <a:schemeClr val="lt1"/>
                  </a:solidFill>
                  <a:latin typeface="Avenir"/>
                  <a:ea typeface="Avenir"/>
                  <a:cs typeface="Avenir"/>
                  <a:sym typeface="Avenir"/>
                </a:rPr>
                <a:t>Cazarea </a:t>
              </a:r>
              <a:r>
                <a:rPr lang="ro-RO" sz="1600">
                  <a:solidFill>
                    <a:schemeClr val="lt1"/>
                  </a:solidFill>
                  <a:latin typeface="Avenir"/>
                  <a:ea typeface="Avenir"/>
                  <a:cs typeface="Avenir"/>
                  <a:sym typeface="Avenir"/>
                </a:rPr>
                <a:t>î</a:t>
              </a:r>
              <a:r>
                <a:rPr b="0" i="0" lang="ro-RO" sz="1600" u="none" cap="none" strike="noStrike">
                  <a:solidFill>
                    <a:schemeClr val="lt1"/>
                  </a:solidFill>
                  <a:latin typeface="Avenir"/>
                  <a:ea typeface="Avenir"/>
                  <a:cs typeface="Avenir"/>
                  <a:sym typeface="Avenir"/>
                </a:rPr>
                <a:t>n economia peer-to-peer poate pune vizitatorii la un risc mai mare</a:t>
              </a:r>
              <a:endParaRPr b="0" i="0" sz="1600" u="none" cap="none" strike="noStrike">
                <a:solidFill>
                  <a:schemeClr val="lt1"/>
                </a:solidFill>
                <a:latin typeface="Avenir"/>
                <a:ea typeface="Avenir"/>
                <a:cs typeface="Avenir"/>
                <a:sym typeface="Avenir"/>
              </a:endParaRPr>
            </a:p>
          </p:txBody>
        </p:sp>
        <p:sp>
          <p:nvSpPr>
            <p:cNvPr id="146" name="Google Shape;146;p4"/>
            <p:cNvSpPr/>
            <p:nvPr/>
          </p:nvSpPr>
          <p:spPr>
            <a:xfrm>
              <a:off x="0" y="2813881"/>
              <a:ext cx="4907267" cy="87516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txBox="1"/>
            <p:nvPr/>
          </p:nvSpPr>
          <p:spPr>
            <a:xfrm>
              <a:off x="42722" y="2856603"/>
              <a:ext cx="4821823" cy="78971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Avenir"/>
                <a:buNone/>
              </a:pPr>
              <a:r>
                <a:rPr b="0" i="0" lang="ro-RO" sz="1600" u="none" cap="none" strike="noStrike">
                  <a:solidFill>
                    <a:schemeClr val="lt1"/>
                  </a:solidFill>
                  <a:latin typeface="Avenir"/>
                  <a:ea typeface="Avenir"/>
                  <a:cs typeface="Avenir"/>
                  <a:sym typeface="Avenir"/>
                </a:rPr>
                <a:t>Închirierea în economia peer-to-peer poate determina creșterea prețurilor locuințelor și a chiriilor</a:t>
              </a:r>
              <a:endParaRPr b="0" i="0" sz="1600" u="none" cap="none" strike="noStrike">
                <a:solidFill>
                  <a:schemeClr val="lt1"/>
                </a:solidFill>
                <a:latin typeface="Avenir"/>
                <a:ea typeface="Avenir"/>
                <a:cs typeface="Avenir"/>
                <a:sym typeface="Avenir"/>
              </a:endParaRPr>
            </a:p>
          </p:txBody>
        </p:sp>
        <p:sp>
          <p:nvSpPr>
            <p:cNvPr id="148" name="Google Shape;148;p4"/>
            <p:cNvSpPr/>
            <p:nvPr/>
          </p:nvSpPr>
          <p:spPr>
            <a:xfrm>
              <a:off x="0" y="3735121"/>
              <a:ext cx="4907267" cy="875160"/>
            </a:xfrm>
            <a:prstGeom prst="roundRect">
              <a:avLst>
                <a:gd fmla="val 16667"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txBox="1"/>
            <p:nvPr/>
          </p:nvSpPr>
          <p:spPr>
            <a:xfrm>
              <a:off x="42722" y="3777843"/>
              <a:ext cx="4821823" cy="78971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Avenir"/>
                <a:buNone/>
              </a:pPr>
              <a:r>
                <a:rPr b="0" i="0" lang="ro-RO" sz="1600" u="none" cap="none" strike="noStrike">
                  <a:solidFill>
                    <a:schemeClr val="lt1"/>
                  </a:solidFill>
                  <a:latin typeface="Avenir"/>
                  <a:ea typeface="Avenir"/>
                  <a:cs typeface="Avenir"/>
                  <a:sym typeface="Avenir"/>
                </a:rPr>
                <a:t>Cazările de pe platforme peer-to-peer poate provoca perturbări într-o comunitate rezidențială</a:t>
              </a:r>
              <a:endParaRPr b="0" i="0" sz="1600" u="none" cap="none" strike="noStrike">
                <a:solidFill>
                  <a:schemeClr val="lt1"/>
                </a:solidFill>
                <a:latin typeface="Avenir"/>
                <a:ea typeface="Avenir"/>
                <a:cs typeface="Avenir"/>
                <a:sym typeface="Aveni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5"/>
          <p:cNvSpPr/>
          <p:nvPr/>
        </p:nvSpPr>
        <p:spPr>
          <a:xfrm>
            <a:off x="0" y="1"/>
            <a:ext cx="12192000" cy="6858004"/>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pic>
        <p:nvPicPr>
          <p:cNvPr id="155" name="Google Shape;155;p5"/>
          <p:cNvPicPr preferRelativeResize="0"/>
          <p:nvPr/>
        </p:nvPicPr>
        <p:blipFill rotWithShape="1">
          <a:blip r:embed="rId3">
            <a:alphaModFix amt="35000"/>
          </a:blip>
          <a:srcRect b="0" l="0" r="0" t="0"/>
          <a:stretch/>
        </p:blipFill>
        <p:spPr>
          <a:xfrm>
            <a:off x="0" y="1"/>
            <a:ext cx="12192000" cy="1392401"/>
          </a:xfrm>
          <a:prstGeom prst="rect">
            <a:avLst/>
          </a:prstGeom>
          <a:noFill/>
          <a:ln>
            <a:noFill/>
          </a:ln>
        </p:spPr>
      </p:pic>
      <p:sp>
        <p:nvSpPr>
          <p:cNvPr id="156" name="Google Shape;156;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57" name="Google Shape;157;p5"/>
          <p:cNvSpPr/>
          <p:nvPr/>
        </p:nvSpPr>
        <p:spPr>
          <a:xfrm>
            <a:off x="3048" y="0"/>
            <a:ext cx="12188952" cy="6858000"/>
          </a:xfrm>
          <a:prstGeom prst="rect">
            <a:avLst/>
          </a:prstGeom>
          <a:solidFill>
            <a:schemeClr val="l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58" name="Google Shape;158;p5"/>
          <p:cNvSpPr txBox="1"/>
          <p:nvPr>
            <p:ph type="title"/>
          </p:nvPr>
        </p:nvSpPr>
        <p:spPr>
          <a:xfrm>
            <a:off x="838200" y="744909"/>
            <a:ext cx="4785546" cy="315541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4400"/>
              <a:buFont typeface="Avenir"/>
              <a:buNone/>
            </a:pPr>
            <a:r>
              <a:rPr lang="ro-RO">
                <a:solidFill>
                  <a:schemeClr val="dk2"/>
                </a:solidFill>
              </a:rPr>
              <a:t>Story Time</a:t>
            </a:r>
            <a:endParaRPr/>
          </a:p>
        </p:txBody>
      </p:sp>
      <p:sp>
        <p:nvSpPr>
          <p:cNvPr id="159" name="Google Shape;159;p5"/>
          <p:cNvSpPr/>
          <p:nvPr/>
        </p:nvSpPr>
        <p:spPr>
          <a:xfrm>
            <a:off x="6102615" y="0"/>
            <a:ext cx="6089385" cy="6858000"/>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60" name="Google Shape;160;p5"/>
          <p:cNvSpPr/>
          <p:nvPr/>
        </p:nvSpPr>
        <p:spPr>
          <a:xfrm rot="10800000">
            <a:off x="6099048" y="-1"/>
            <a:ext cx="6060354" cy="6857999"/>
          </a:xfrm>
          <a:prstGeom prst="rect">
            <a:avLst/>
          </a:prstGeom>
          <a:blipFill rotWithShape="1">
            <a:blip r:embed="rId4">
              <a:alphaModFix amt="35000"/>
            </a:blip>
            <a:tile algn="t" flip="xy" tx="88900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pic>
        <p:nvPicPr>
          <p:cNvPr id="161" name="Google Shape;161;p5"/>
          <p:cNvPicPr preferRelativeResize="0"/>
          <p:nvPr/>
        </p:nvPicPr>
        <p:blipFill rotWithShape="1">
          <a:blip r:embed="rId5">
            <a:alphaModFix/>
          </a:blip>
          <a:srcRect b="0" l="0" r="0" t="0"/>
          <a:stretch/>
        </p:blipFill>
        <p:spPr>
          <a:xfrm>
            <a:off x="7748522" y="567942"/>
            <a:ext cx="2784858" cy="2784858"/>
          </a:xfrm>
          <a:prstGeom prst="rect">
            <a:avLst/>
          </a:prstGeom>
          <a:noFill/>
          <a:ln>
            <a:noFill/>
          </a:ln>
        </p:spPr>
      </p:pic>
      <p:pic>
        <p:nvPicPr>
          <p:cNvPr id="162" name="Google Shape;162;p5"/>
          <p:cNvPicPr preferRelativeResize="0"/>
          <p:nvPr/>
        </p:nvPicPr>
        <p:blipFill rotWithShape="1">
          <a:blip r:embed="rId6">
            <a:alphaModFix/>
          </a:blip>
          <a:srcRect b="0" l="0" r="0" t="0"/>
          <a:stretch/>
        </p:blipFill>
        <p:spPr>
          <a:xfrm>
            <a:off x="7748522" y="3524515"/>
            <a:ext cx="2784858" cy="27848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68" name="Google Shape;168;p6"/>
          <p:cNvSpPr/>
          <p:nvPr/>
        </p:nvSpPr>
        <p:spPr>
          <a:xfrm>
            <a:off x="3048" y="0"/>
            <a:ext cx="12188952" cy="6858000"/>
          </a:xfrm>
          <a:prstGeom prst="rect">
            <a:avLst/>
          </a:prstGeom>
          <a:solidFill>
            <a:schemeClr val="l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69" name="Google Shape;169;p6"/>
          <p:cNvSpPr/>
          <p:nvPr/>
        </p:nvSpPr>
        <p:spPr>
          <a:xfrm>
            <a:off x="0" y="0"/>
            <a:ext cx="12192000" cy="2225674"/>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0" name="Google Shape;170;p6"/>
          <p:cNvSpPr/>
          <p:nvPr/>
        </p:nvSpPr>
        <p:spPr>
          <a:xfrm>
            <a:off x="1524" y="0"/>
            <a:ext cx="12188952" cy="2225674"/>
          </a:xfrm>
          <a:prstGeom prst="rect">
            <a:avLst/>
          </a:prstGeom>
          <a:blipFill rotWithShape="1">
            <a:blip r:embed="rId3">
              <a:alphaModFix amt="20000"/>
            </a:blip>
            <a:tile algn="tl" flip="none" tx="88900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1" name="Google Shape;171;p6"/>
          <p:cNvSpPr txBox="1"/>
          <p:nvPr>
            <p:ph type="title"/>
          </p:nvPr>
        </p:nvSpPr>
        <p:spPr>
          <a:xfrm>
            <a:off x="1198182" y="381000"/>
            <a:ext cx="10003218" cy="1600124"/>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4400"/>
              <a:buFont typeface="Avenir"/>
              <a:buNone/>
            </a:pPr>
            <a:r>
              <a:rPr b="0" lang="ro-RO"/>
              <a:t>Cum ajuta economia colaborativă micile afaceri și antreprenorii?</a:t>
            </a:r>
            <a:endParaRPr/>
          </a:p>
        </p:txBody>
      </p:sp>
      <p:grpSp>
        <p:nvGrpSpPr>
          <p:cNvPr id="172" name="Google Shape;172;p6"/>
          <p:cNvGrpSpPr/>
          <p:nvPr/>
        </p:nvGrpSpPr>
        <p:grpSpPr>
          <a:xfrm>
            <a:off x="841280" y="3531300"/>
            <a:ext cx="10509389" cy="1628985"/>
            <a:chOff x="3080" y="1016700"/>
            <a:chExt cx="10509389" cy="1628985"/>
          </a:xfrm>
        </p:grpSpPr>
        <p:sp>
          <p:nvSpPr>
            <p:cNvPr id="173" name="Google Shape;173;p6"/>
            <p:cNvSpPr/>
            <p:nvPr/>
          </p:nvSpPr>
          <p:spPr>
            <a:xfrm>
              <a:off x="3080" y="1016700"/>
              <a:ext cx="2199600" cy="1396800"/>
            </a:xfrm>
            <a:prstGeom prst="roundRect">
              <a:avLst>
                <a:gd fmla="val 10000"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247486" y="1248885"/>
              <a:ext cx="2199600" cy="1396800"/>
            </a:xfrm>
            <a:prstGeom prst="roundRect">
              <a:avLst>
                <a:gd fmla="val 10000" name="adj"/>
              </a:avLst>
            </a:prstGeom>
            <a:solidFill>
              <a:schemeClr val="lt1">
                <a:alpha val="89803"/>
              </a:schemeClr>
            </a:solidFill>
            <a:ln cap="flat" cmpd="sng" w="12700">
              <a:solidFill>
                <a:srgbClr val="E6276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txBox="1"/>
            <p:nvPr/>
          </p:nvSpPr>
          <p:spPr>
            <a:xfrm>
              <a:off x="288396" y="1289795"/>
              <a:ext cx="2117700" cy="13149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1200"/>
                <a:buFont typeface="Avenir"/>
                <a:buNone/>
              </a:pPr>
              <a:r>
                <a:rPr b="0" i="0" lang="ro-RO" sz="1200" u="none" cap="none" strike="noStrike">
                  <a:solidFill>
                    <a:schemeClr val="dk1"/>
                  </a:solidFill>
                  <a:latin typeface="Avenir"/>
                  <a:ea typeface="Avenir"/>
                  <a:cs typeface="Avenir"/>
                  <a:sym typeface="Avenir"/>
                </a:rPr>
                <a:t>Cu economia colaborativă, bunurile altfel neutilizate devin surse de venit;</a:t>
              </a:r>
              <a:endParaRPr b="0" i="0" sz="1200" u="none" cap="none" strike="noStrike">
                <a:solidFill>
                  <a:schemeClr val="dk1"/>
                </a:solidFill>
                <a:latin typeface="Avenir"/>
                <a:ea typeface="Avenir"/>
                <a:cs typeface="Avenir"/>
                <a:sym typeface="Avenir"/>
              </a:endParaRPr>
            </a:p>
          </p:txBody>
        </p:sp>
        <p:sp>
          <p:nvSpPr>
            <p:cNvPr id="176" name="Google Shape;176;p6"/>
            <p:cNvSpPr/>
            <p:nvPr/>
          </p:nvSpPr>
          <p:spPr>
            <a:xfrm>
              <a:off x="5380002" y="1016700"/>
              <a:ext cx="2199600" cy="1396800"/>
            </a:xfrm>
            <a:prstGeom prst="roundRect">
              <a:avLst>
                <a:gd fmla="val 10000"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5624408" y="1248885"/>
              <a:ext cx="2199600" cy="1396800"/>
            </a:xfrm>
            <a:prstGeom prst="roundRect">
              <a:avLst>
                <a:gd fmla="val 10000" name="adj"/>
              </a:avLst>
            </a:prstGeom>
            <a:solidFill>
              <a:schemeClr val="lt1">
                <a:alpha val="89803"/>
              </a:schemeClr>
            </a:solidFill>
            <a:ln cap="flat" cmpd="sng" w="12700">
              <a:solidFill>
                <a:srgbClr val="E6276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txBox="1"/>
            <p:nvPr/>
          </p:nvSpPr>
          <p:spPr>
            <a:xfrm>
              <a:off x="5665318" y="1289795"/>
              <a:ext cx="2117700" cy="13149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1200"/>
                <a:buFont typeface="Avenir"/>
                <a:buNone/>
              </a:pPr>
              <a:r>
                <a:rPr b="0" i="0" lang="ro-RO" sz="1200" u="none" cap="none" strike="noStrike">
                  <a:solidFill>
                    <a:schemeClr val="dk1"/>
                  </a:solidFill>
                  <a:latin typeface="Avenir"/>
                  <a:ea typeface="Avenir"/>
                  <a:cs typeface="Avenir"/>
                  <a:sym typeface="Avenir"/>
                </a:rPr>
                <a:t>Entuziasmul pentru economia colaborativă a creat peisajul perfect pentru antreprenori pentru a lansa idei noi și avea succes fără prea multă cheltuială</a:t>
              </a:r>
              <a:endParaRPr b="0" i="0" sz="1200" u="none" cap="none" strike="noStrike">
                <a:solidFill>
                  <a:schemeClr val="dk1"/>
                </a:solidFill>
                <a:latin typeface="Avenir"/>
                <a:ea typeface="Avenir"/>
                <a:cs typeface="Avenir"/>
                <a:sym typeface="Avenir"/>
              </a:endParaRPr>
            </a:p>
          </p:txBody>
        </p:sp>
        <p:sp>
          <p:nvSpPr>
            <p:cNvPr id="179" name="Google Shape;179;p6"/>
            <p:cNvSpPr/>
            <p:nvPr/>
          </p:nvSpPr>
          <p:spPr>
            <a:xfrm>
              <a:off x="8068463" y="1016700"/>
              <a:ext cx="2199600" cy="1396800"/>
            </a:xfrm>
            <a:prstGeom prst="roundRect">
              <a:avLst>
                <a:gd fmla="val 10000"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8312869" y="1248885"/>
              <a:ext cx="2199600" cy="1396800"/>
            </a:xfrm>
            <a:prstGeom prst="roundRect">
              <a:avLst>
                <a:gd fmla="val 10000" name="adj"/>
              </a:avLst>
            </a:prstGeom>
            <a:solidFill>
              <a:schemeClr val="lt1">
                <a:alpha val="89803"/>
              </a:schemeClr>
            </a:solidFill>
            <a:ln cap="flat" cmpd="sng" w="12700">
              <a:solidFill>
                <a:srgbClr val="E6276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txBox="1"/>
            <p:nvPr/>
          </p:nvSpPr>
          <p:spPr>
            <a:xfrm>
              <a:off x="8353779" y="1289795"/>
              <a:ext cx="2117700" cy="13149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1200"/>
                <a:buFont typeface="Avenir"/>
                <a:buNone/>
              </a:pPr>
              <a:r>
                <a:rPr b="1" i="0" lang="ro-RO" sz="1200" u="none" cap="none" strike="noStrike">
                  <a:solidFill>
                    <a:schemeClr val="dk1"/>
                  </a:solidFill>
                  <a:latin typeface="Avenir"/>
                  <a:ea typeface="Avenir"/>
                  <a:cs typeface="Avenir"/>
                  <a:sym typeface="Avenir"/>
                </a:rPr>
                <a:t>Într-o lume în care ideile mai bune valorează mai mulți bani, orice antreprenor are puterea de a crește și de a prospera.</a:t>
              </a:r>
              <a:endParaRPr b="0" i="0" sz="1200" u="none" cap="none" strike="noStrike">
                <a:solidFill>
                  <a:schemeClr val="dk1"/>
                </a:solidFill>
                <a:latin typeface="Avenir"/>
                <a:ea typeface="Avenir"/>
                <a:cs typeface="Avenir"/>
                <a:sym typeface="Avenir"/>
              </a:endParaRPr>
            </a:p>
          </p:txBody>
        </p:sp>
        <p:sp>
          <p:nvSpPr>
            <p:cNvPr id="182" name="Google Shape;182;p6"/>
            <p:cNvSpPr/>
            <p:nvPr/>
          </p:nvSpPr>
          <p:spPr>
            <a:xfrm>
              <a:off x="2691541" y="1016700"/>
              <a:ext cx="2199600" cy="1396800"/>
            </a:xfrm>
            <a:prstGeom prst="roundRect">
              <a:avLst>
                <a:gd fmla="val 10000" name="adj"/>
              </a:avLst>
            </a:prstGeom>
            <a:solidFill>
              <a:srgbClr val="E6276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935947" y="1248885"/>
              <a:ext cx="2199600" cy="1396800"/>
            </a:xfrm>
            <a:prstGeom prst="roundRect">
              <a:avLst>
                <a:gd fmla="val 10000" name="adj"/>
              </a:avLst>
            </a:prstGeom>
            <a:solidFill>
              <a:schemeClr val="lt1">
                <a:alpha val="89800"/>
              </a:schemeClr>
            </a:solidFill>
            <a:ln cap="flat" cmpd="sng" w="12700">
              <a:solidFill>
                <a:srgbClr val="E6276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2976857" y="1289795"/>
              <a:ext cx="2117700" cy="13149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1200"/>
                <a:buFont typeface="Avenir"/>
                <a:buNone/>
              </a:pPr>
              <a:r>
                <a:rPr b="0" i="0" lang="ro-RO" sz="1200" u="none" cap="none" strike="noStrike">
                  <a:solidFill>
                    <a:schemeClr val="dk1"/>
                  </a:solidFill>
                  <a:latin typeface="Avenir"/>
                  <a:ea typeface="Avenir"/>
                  <a:cs typeface="Avenir"/>
                  <a:sym typeface="Avenir"/>
                </a:rPr>
                <a:t>Antreprenoriii au posibilitatea de a conduce procesul de creare a resurselor economice</a:t>
              </a:r>
              <a:endParaRPr b="0" i="0" sz="1200" u="none" cap="none" strike="noStrike">
                <a:solidFill>
                  <a:schemeClr val="dk1"/>
                </a:solidFill>
                <a:latin typeface="Avenir"/>
                <a:ea typeface="Avenir"/>
                <a:cs typeface="Avenir"/>
                <a:sym typeface="Aveni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90" name="Google Shape;190;p7"/>
          <p:cNvSpPr/>
          <p:nvPr/>
        </p:nvSpPr>
        <p:spPr>
          <a:xfrm>
            <a:off x="0" y="0"/>
            <a:ext cx="12188952" cy="6858000"/>
          </a:xfrm>
          <a:prstGeom prst="rect">
            <a:avLst/>
          </a:prstGeom>
          <a:solidFill>
            <a:schemeClr val="l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595959"/>
              </a:solidFill>
              <a:latin typeface="Avenir"/>
              <a:ea typeface="Avenir"/>
              <a:cs typeface="Avenir"/>
              <a:sym typeface="Avenir"/>
            </a:endParaRPr>
          </a:p>
        </p:txBody>
      </p:sp>
      <p:sp>
        <p:nvSpPr>
          <p:cNvPr id="191" name="Google Shape;191;p7"/>
          <p:cNvSpPr/>
          <p:nvPr/>
        </p:nvSpPr>
        <p:spPr>
          <a:xfrm>
            <a:off x="0" y="0"/>
            <a:ext cx="6096000" cy="6858000"/>
          </a:xfrm>
          <a:prstGeom prst="rect">
            <a:avLst/>
          </a:prstGeom>
          <a:solidFill>
            <a:srgbClr val="2523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92" name="Google Shape;192;p7"/>
          <p:cNvSpPr/>
          <p:nvPr/>
        </p:nvSpPr>
        <p:spPr>
          <a:xfrm>
            <a:off x="0" y="0"/>
            <a:ext cx="6096000" cy="6858000"/>
          </a:xfrm>
          <a:prstGeom prst="rect">
            <a:avLst/>
          </a:prstGeom>
          <a:blipFill rotWithShape="1">
            <a:blip r:embed="rId3">
              <a:alphaModFix amt="24000"/>
            </a:blip>
            <a:tile algn="tl" flip="none" tx="88900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93" name="Google Shape;193;p7"/>
          <p:cNvSpPr txBox="1"/>
          <p:nvPr>
            <p:ph type="title"/>
          </p:nvPr>
        </p:nvSpPr>
        <p:spPr>
          <a:xfrm>
            <a:off x="838201" y="559813"/>
            <a:ext cx="4876800" cy="5577934"/>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4400"/>
              <a:buFont typeface="Avenir"/>
              <a:buNone/>
            </a:pPr>
            <a:r>
              <a:rPr b="0" lang="ro-RO"/>
              <a:t>Ce urmează pentru economia colaborativă?</a:t>
            </a:r>
            <a:endParaRPr/>
          </a:p>
        </p:txBody>
      </p:sp>
      <p:sp>
        <p:nvSpPr>
          <p:cNvPr id="194" name="Google Shape;194;p7"/>
          <p:cNvSpPr txBox="1"/>
          <p:nvPr>
            <p:ph idx="1" type="body"/>
          </p:nvPr>
        </p:nvSpPr>
        <p:spPr>
          <a:xfrm>
            <a:off x="6705600" y="559813"/>
            <a:ext cx="4467677" cy="5553275"/>
          </a:xfrm>
          <a:prstGeom prst="rect">
            <a:avLst/>
          </a:prstGeom>
          <a:noFill/>
          <a:ln>
            <a:noFill/>
          </a:ln>
        </p:spPr>
        <p:txBody>
          <a:bodyPr anchorCtr="0" anchor="t" bIns="45700" lIns="91425" spcFirstLastPara="1" rIns="91425" wrap="square" tIns="45700">
            <a:normAutofit/>
          </a:bodyPr>
          <a:lstStyle/>
          <a:p>
            <a:pPr indent="-342900" lvl="0" marL="342900" rtl="0" algn="l">
              <a:lnSpc>
                <a:spcPct val="110000"/>
              </a:lnSpc>
              <a:spcBef>
                <a:spcPts val="0"/>
              </a:spcBef>
              <a:spcAft>
                <a:spcPts val="0"/>
              </a:spcAft>
              <a:buSzPts val="1800"/>
              <a:buChar char="•"/>
            </a:pPr>
            <a:r>
              <a:rPr lang="ro-RO" sz="1800">
                <a:solidFill>
                  <a:schemeClr val="dk2"/>
                </a:solidFill>
              </a:rPr>
              <a:t>Odata cu cresterea economiei colaborative, aceste doua companii mari continua sa se extinda si in alte domenii (ex. Uber a creat si Uber Eat, iar Airbnb oferă acum experiențe de călătorie unice concepute de localnici)</a:t>
            </a:r>
            <a:endParaRPr/>
          </a:p>
          <a:p>
            <a:pPr indent="-228600" lvl="0" marL="228600" rtl="0" algn="l">
              <a:lnSpc>
                <a:spcPct val="110000"/>
              </a:lnSpc>
              <a:spcBef>
                <a:spcPts val="1000"/>
              </a:spcBef>
              <a:spcAft>
                <a:spcPts val="0"/>
              </a:spcAft>
              <a:buSzPts val="1800"/>
              <a:buChar char="•"/>
            </a:pPr>
            <a:r>
              <a:rPr lang="ro-RO" sz="1800">
                <a:solidFill>
                  <a:schemeClr val="dk2"/>
                </a:solidFill>
              </a:rPr>
              <a:t>Chiar daca din ce in ce mai multa lume este convinsa de avantajele colaborării atât din punct de vedere al unei posibilități de câștig pe o astfel de platformă, cât și al consumului, modelele tradiționale de vânzare sunt încă o parte majoră a culturii moderne a consumatorilor, motiv pentru care aceasta economie nu va acapara vreodata majoritatea pietii</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ockprintVTI">
  <a:themeElements>
    <a:clrScheme name="AnalogousFromDarkSeedLeftStep">
      <a:dk1>
        <a:srgbClr val="000000"/>
      </a:dk1>
      <a:lt1>
        <a:srgbClr val="FFFFFF"/>
      </a:lt1>
      <a:dk2>
        <a:srgbClr val="181734"/>
      </a:dk2>
      <a:lt2>
        <a:srgbClr val="F0F3F2"/>
      </a:lt2>
      <a:accent1>
        <a:srgbClr val="E72971"/>
      </a:accent1>
      <a:accent2>
        <a:srgbClr val="D517AE"/>
      </a:accent2>
      <a:accent3>
        <a:srgbClr val="BF29E7"/>
      </a:accent3>
      <a:accent4>
        <a:srgbClr val="5E17D5"/>
      </a:accent4>
      <a:accent5>
        <a:srgbClr val="2932E7"/>
      </a:accent5>
      <a:accent6>
        <a:srgbClr val="176FD5"/>
      </a:accent6>
      <a:hlink>
        <a:srgbClr val="6355C6"/>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2022-11-23T06:40:57Z</dcterms:created>
</cp:coreProperties>
</file>